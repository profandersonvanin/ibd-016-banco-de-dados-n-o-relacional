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70" r:id="rId7"/>
    <p:sldId id="271" r:id="rId8"/>
    <p:sldId id="272" r:id="rId9"/>
    <p:sldId id="260" r:id="rId10"/>
    <p:sldId id="261" r:id="rId11"/>
    <p:sldId id="262" r:id="rId12"/>
    <p:sldId id="273" r:id="rId13"/>
    <p:sldId id="263" r:id="rId14"/>
    <p:sldId id="274" r:id="rId15"/>
    <p:sldId id="264" r:id="rId16"/>
    <p:sldId id="265" r:id="rId17"/>
    <p:sldId id="275" r:id="rId18"/>
    <p:sldId id="276" r:id="rId19"/>
    <p:sldId id="266" r:id="rId20"/>
    <p:sldId id="277" r:id="rId21"/>
    <p:sldId id="268" r:id="rId22"/>
    <p:sldId id="26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7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cloud/atlas/register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neo4j.com/cloud/platform/aura-graph-database/" TargetMode="External"/><Relationship Id="rId5" Type="http://schemas.openxmlformats.org/officeDocument/2006/relationships/hyperlink" Target="https://astra.datastax.com/signupNeo4j" TargetMode="External"/><Relationship Id="rId4" Type="http://schemas.openxmlformats.org/officeDocument/2006/relationships/hyperlink" Target="https://redis.io/try-free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320926"/>
            <a:ext cx="11125200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117973"/>
            <a:ext cx="2464324" cy="4093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2603748"/>
            <a:ext cx="11658600" cy="635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002"/>
              </a:lnSpc>
            </a:pPr>
            <a:r>
              <a:rPr sz="4350" b="1" i="0" u="none" dirty="0">
                <a:solidFill>
                  <a:srgbClr val="FFFFFF"/>
                </a:solidFill>
                <a:latin typeface="Poppins"/>
              </a:rPr>
              <a:t>Banco de Dados </a:t>
            </a:r>
            <a:r>
              <a:rPr sz="4350" b="1" i="0" u="none" dirty="0" err="1">
                <a:solidFill>
                  <a:srgbClr val="FFFFFF"/>
                </a:solidFill>
                <a:latin typeface="Poppins"/>
              </a:rPr>
              <a:t>Não</a:t>
            </a:r>
            <a:r>
              <a:rPr sz="4350" b="1" i="0" u="none" dirty="0">
                <a:solidFill>
                  <a:srgbClr val="FFFFFF"/>
                </a:solidFill>
                <a:latin typeface="Poppins"/>
              </a:rPr>
              <a:t> </a:t>
            </a:r>
            <a:r>
              <a:rPr sz="4350" b="1" i="0" u="none" dirty="0" err="1">
                <a:solidFill>
                  <a:srgbClr val="FFFFFF"/>
                </a:solidFill>
                <a:latin typeface="Poppins"/>
              </a:rPr>
              <a:t>Relacional</a:t>
            </a:r>
            <a:endParaRPr sz="4350" b="1" i="0" u="none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399" y="3391346"/>
            <a:ext cx="11434824" cy="413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 i="0" u="none" dirty="0" err="1">
                <a:solidFill>
                  <a:srgbClr val="94A3B8"/>
                </a:solidFill>
                <a:latin typeface="Poppins"/>
              </a:rPr>
              <a:t>Abertura</a:t>
            </a:r>
            <a:r>
              <a:rPr sz="2000" b="0" i="0" u="none" dirty="0">
                <a:solidFill>
                  <a:srgbClr val="94A3B8"/>
                </a:solidFill>
                <a:latin typeface="Poppins"/>
              </a:rPr>
              <a:t> da </a:t>
            </a:r>
            <a:r>
              <a:rPr sz="2000" b="0" i="0" u="none" dirty="0" err="1">
                <a:solidFill>
                  <a:srgbClr val="94A3B8"/>
                </a:solidFill>
                <a:latin typeface="Poppins"/>
              </a:rPr>
              <a:t>disciplina</a:t>
            </a:r>
            <a:r>
              <a:rPr sz="2000" b="0" i="0" u="none" dirty="0">
                <a:solidFill>
                  <a:srgbClr val="94A3B8"/>
                </a:solidFill>
                <a:latin typeface="Poppins"/>
              </a:rPr>
              <a:t>, panorama de </a:t>
            </a:r>
            <a:r>
              <a:rPr sz="2000" b="0" i="0" u="none" dirty="0" err="1">
                <a:solidFill>
                  <a:srgbClr val="94A3B8"/>
                </a:solidFill>
                <a:latin typeface="Poppins"/>
              </a:rPr>
              <a:t>mercado</a:t>
            </a:r>
            <a:r>
              <a:rPr sz="2000" b="0" i="0" u="none" dirty="0">
                <a:solidFill>
                  <a:srgbClr val="94A3B8"/>
                </a:solidFill>
                <a:latin typeface="Poppins"/>
              </a:rPr>
              <a:t> e </a:t>
            </a:r>
            <a:r>
              <a:rPr sz="2000" b="0" i="0" u="none" dirty="0" err="1">
                <a:solidFill>
                  <a:srgbClr val="94A3B8"/>
                </a:solidFill>
                <a:latin typeface="Poppins"/>
              </a:rPr>
              <a:t>os</a:t>
            </a:r>
            <a:r>
              <a:rPr sz="2000" b="0" i="0" u="none" dirty="0">
                <a:solidFill>
                  <a:srgbClr val="94A3B8"/>
                </a:solidFill>
                <a:latin typeface="Poppins"/>
              </a:rPr>
              <a:t> </a:t>
            </a:r>
            <a:r>
              <a:rPr sz="2000" b="0" i="0" u="none" dirty="0" err="1">
                <a:solidFill>
                  <a:srgbClr val="94A3B8"/>
                </a:solidFill>
                <a:latin typeface="Poppins"/>
              </a:rPr>
              <a:t>fundamentos</a:t>
            </a:r>
            <a:r>
              <a:rPr sz="2000" b="0" i="0" u="none" dirty="0">
                <a:solidFill>
                  <a:srgbClr val="94A3B8"/>
                </a:solidFill>
                <a:latin typeface="Poppins"/>
              </a:rPr>
              <a:t> </a:t>
            </a:r>
            <a:r>
              <a:rPr sz="2000" b="0" i="0" u="none" dirty="0" err="1">
                <a:solidFill>
                  <a:srgbClr val="94A3B8"/>
                </a:solidFill>
                <a:latin typeface="Poppins"/>
              </a:rPr>
              <a:t>teóricos</a:t>
            </a:r>
            <a:r>
              <a:rPr sz="2000" b="0" i="0" u="none" dirty="0">
                <a:solidFill>
                  <a:srgbClr val="94A3B8"/>
                </a:solidFill>
                <a:latin typeface="Poppins"/>
              </a:rPr>
              <a:t> que </a:t>
            </a:r>
            <a:r>
              <a:rPr sz="2000" b="0" i="0" u="none" dirty="0" err="1">
                <a:solidFill>
                  <a:srgbClr val="94A3B8"/>
                </a:solidFill>
                <a:latin typeface="Poppins"/>
              </a:rPr>
              <a:t>justificam</a:t>
            </a:r>
            <a:r>
              <a:rPr sz="2000" b="0" i="0" u="none" dirty="0">
                <a:solidFill>
                  <a:srgbClr val="94A3B8"/>
                </a:solidFill>
                <a:latin typeface="Poppins"/>
              </a:rPr>
              <a:t> a </a:t>
            </a:r>
            <a:r>
              <a:rPr sz="2000" b="0" i="0" u="none" dirty="0" err="1">
                <a:solidFill>
                  <a:srgbClr val="94A3B8"/>
                </a:solidFill>
                <a:latin typeface="Poppins"/>
              </a:rPr>
              <a:t>revolução</a:t>
            </a:r>
            <a:r>
              <a:rPr sz="2000" b="0" i="0" u="none" dirty="0">
                <a:solidFill>
                  <a:srgbClr val="94A3B8"/>
                </a:solidFill>
                <a:latin typeface="Poppins"/>
              </a:rPr>
              <a:t> do NoSQL.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4" y="4541816"/>
            <a:ext cx="2078807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 u="none" dirty="0">
                <a:solidFill>
                  <a:srgbClr val="94A3B8"/>
                </a:solidFill>
                <a:latin typeface="Poppins"/>
              </a:rPr>
              <a:t>Prof. </a:t>
            </a:r>
            <a:r>
              <a:rPr sz="1400" b="0" i="0" u="none" dirty="0" err="1">
                <a:solidFill>
                  <a:srgbClr val="94A3B8"/>
                </a:solidFill>
                <a:latin typeface="Poppins"/>
              </a:rPr>
              <a:t>Msc</a:t>
            </a:r>
            <a:r>
              <a:rPr sz="1400" b="0" i="0" u="none" dirty="0">
                <a:solidFill>
                  <a:srgbClr val="94A3B8"/>
                </a:solidFill>
                <a:latin typeface="Poppins"/>
              </a:rPr>
              <a:t>. </a:t>
            </a:r>
            <a:r>
              <a:rPr lang="pt-BR" sz="1400" b="0" i="0" u="none" dirty="0">
                <a:solidFill>
                  <a:srgbClr val="94A3B8"/>
                </a:solidFill>
                <a:latin typeface="Poppins"/>
              </a:rPr>
              <a:t>Anderson </a:t>
            </a:r>
            <a:r>
              <a:rPr lang="pt-BR" sz="1400" b="0" i="0" u="none" dirty="0" err="1">
                <a:solidFill>
                  <a:srgbClr val="94A3B8"/>
                </a:solidFill>
                <a:latin typeface="Poppins"/>
              </a:rPr>
              <a:t>Vanin</a:t>
            </a:r>
            <a:endParaRPr sz="1400" b="0" i="0" u="none" dirty="0">
              <a:solidFill>
                <a:srgbClr val="94A3B8"/>
              </a:solidFill>
              <a:latin typeface="Poppi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07531" y="4530562"/>
            <a:ext cx="1514475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 u="none" dirty="0">
                <a:solidFill>
                  <a:srgbClr val="94A3B8"/>
                </a:solidFill>
                <a:latin typeface="Poppins"/>
              </a:rPr>
              <a:t>FATEC / CPS / INOVA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0632" y="4530562"/>
            <a:ext cx="24903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400" dirty="0">
                <a:solidFill>
                  <a:srgbClr val="94A3B8"/>
                </a:solidFill>
                <a:latin typeface="Poppins"/>
              </a:rPr>
              <a:t>INICIO EM </a:t>
            </a:r>
            <a:r>
              <a:rPr sz="1400" b="0" i="0" u="none" dirty="0">
                <a:solidFill>
                  <a:srgbClr val="94A3B8"/>
                </a:solidFill>
                <a:latin typeface="Poppins"/>
              </a:rPr>
              <a:t>22/08/2026 (4h/a)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578101"/>
            <a:ext cx="18097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0357" y="4566847"/>
            <a:ext cx="18097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5832" y="4566847"/>
            <a:ext cx="1238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45568" y="2943225"/>
            <a:ext cx="6900862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 dirty="0" err="1">
                <a:solidFill>
                  <a:srgbClr val="FFFFFF"/>
                </a:solidFill>
                <a:latin typeface="Poppins"/>
              </a:rPr>
              <a:t>Apresentação</a:t>
            </a:r>
            <a:r>
              <a:rPr sz="3900" b="1" i="0" u="none" dirty="0">
                <a:solidFill>
                  <a:srgbClr val="FFFFFF"/>
                </a:solidFill>
                <a:latin typeface="Poppins"/>
              </a:rPr>
              <a:t> do </a:t>
            </a:r>
            <a:r>
              <a:rPr sz="3900" b="1" i="0" u="none" dirty="0" err="1">
                <a:solidFill>
                  <a:srgbClr val="FFFFFF"/>
                </a:solidFill>
                <a:latin typeface="Poppins"/>
              </a:rPr>
              <a:t>Docente</a:t>
            </a:r>
            <a:endParaRPr sz="3900" b="1" i="0" u="none" dirty="0">
              <a:solidFill>
                <a:srgbClr val="FFFFFF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19300"/>
            <a:ext cx="53721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2226468"/>
            <a:ext cx="5143500" cy="1069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 err="1">
                <a:solidFill>
                  <a:srgbClr val="475569"/>
                </a:solidFill>
                <a:latin typeface="Poppins"/>
              </a:rPr>
              <a:t>Atuação</a:t>
            </a:r>
            <a:r>
              <a:rPr sz="1600" b="1" i="0" u="none" dirty="0">
                <a:solidFill>
                  <a:srgbClr val="475569"/>
                </a:solidFill>
                <a:latin typeface="Poppins"/>
              </a:rPr>
              <a:t> Multi-</a:t>
            </a:r>
            <a:r>
              <a:rPr sz="1600" b="1" i="0" u="none" dirty="0" err="1">
                <a:solidFill>
                  <a:srgbClr val="475569"/>
                </a:solidFill>
                <a:latin typeface="Poppins"/>
              </a:rPr>
              <a:t>institucional</a:t>
            </a:r>
            <a:r>
              <a:rPr sz="1600" b="1" i="0" u="none" dirty="0">
                <a:solidFill>
                  <a:srgbClr val="475569"/>
                </a:solidFill>
                <a:latin typeface="Poppins"/>
              </a:rPr>
              <a:t>: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Docência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e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pesquisa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na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ETEC MCM (CPS),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Ibmec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(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Ciência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de Dados &amp; IA),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Fundação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Santo André e FATEC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Mauá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296248"/>
            <a:ext cx="5143500" cy="1069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 err="1">
                <a:solidFill>
                  <a:srgbClr val="475569"/>
                </a:solidFill>
                <a:latin typeface="Poppins"/>
              </a:rPr>
              <a:t>Inovação</a:t>
            </a:r>
            <a:r>
              <a:rPr sz="1600" b="1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1" i="0" u="none" dirty="0" err="1">
                <a:solidFill>
                  <a:srgbClr val="475569"/>
                </a:solidFill>
                <a:latin typeface="Poppins"/>
              </a:rPr>
              <a:t>Tecnológica</a:t>
            </a:r>
            <a:r>
              <a:rPr sz="1600" b="1" i="0" u="none" dirty="0">
                <a:solidFill>
                  <a:srgbClr val="475569"/>
                </a:solidFill>
                <a:latin typeface="Poppins"/>
              </a:rPr>
              <a:t>: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Coordenador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de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Projetos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na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Assessoria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INOVA (Centro Paula Souza)</a:t>
            </a:r>
            <a:r>
              <a:rPr lang="pt-BR" sz="1600" b="0" i="0" u="none" dirty="0">
                <a:solidFill>
                  <a:srgbClr val="475569"/>
                </a:solidFill>
                <a:latin typeface="Poppins"/>
              </a:rPr>
              <a:t> desde 2026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e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Laboratórios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de IA e IoT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desde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2022.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380430"/>
            <a:ext cx="5143500" cy="1069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 err="1">
                <a:solidFill>
                  <a:srgbClr val="475569"/>
                </a:solidFill>
                <a:latin typeface="Poppins"/>
              </a:rPr>
              <a:t>Pesquisa</a:t>
            </a:r>
            <a:r>
              <a:rPr sz="1600" b="1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1" i="0" u="none" dirty="0" err="1">
                <a:solidFill>
                  <a:srgbClr val="475569"/>
                </a:solidFill>
                <a:latin typeface="Poppins"/>
              </a:rPr>
              <a:t>Científica</a:t>
            </a:r>
            <a:r>
              <a:rPr sz="1600" b="1" i="0" u="none" dirty="0">
                <a:solidFill>
                  <a:srgbClr val="475569"/>
                </a:solidFill>
                <a:latin typeface="Poppins"/>
              </a:rPr>
              <a:t>: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Mestrado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em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Informática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e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Gestão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do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Conhecimento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(UNINOVE), com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foco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em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Visão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Computacional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e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Cidades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Inteligentes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592667"/>
            <a:ext cx="5143500" cy="700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pt-BR" sz="1600" b="1" dirty="0">
                <a:solidFill>
                  <a:srgbClr val="475569"/>
                </a:solidFill>
                <a:latin typeface="Poppins"/>
              </a:rPr>
              <a:t>Academia</a:t>
            </a:r>
            <a:r>
              <a:rPr sz="1600" b="1" i="0" u="none" dirty="0">
                <a:solidFill>
                  <a:srgbClr val="475569"/>
                </a:solidFill>
                <a:latin typeface="Poppins"/>
              </a:rPr>
              <a:t>: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Publicações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em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periódicos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internacionais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(</a:t>
            </a:r>
            <a:r>
              <a:rPr sz="1600" b="0" i="1" u="none" dirty="0">
                <a:solidFill>
                  <a:srgbClr val="475569"/>
                </a:solidFill>
                <a:latin typeface="Poppins"/>
              </a:rPr>
              <a:t>Applied Soft Computing, Elsevier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).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433939"/>
            <a:ext cx="5353050" cy="3600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Perfil Profissional &amp; Atuação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0250" y="7239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6A45C52-875B-4568-9503-4C1C4A49D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319"/>
            <a:ext cx="12164572" cy="645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942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509836"/>
            <a:ext cx="3555950" cy="3404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50" y="2509837"/>
            <a:ext cx="3555950" cy="340482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500" y="2509837"/>
            <a:ext cx="3555950" cy="340482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786062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490912"/>
            <a:ext cx="315367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 err="1">
                <a:solidFill>
                  <a:srgbClr val="1E293B"/>
                </a:solidFill>
                <a:latin typeface="Poppins"/>
              </a:rPr>
              <a:t>Estruturados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9625" y="3900487"/>
            <a:ext cx="3003500" cy="1439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Esquema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fixo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em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linhas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e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colunas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(SQL).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Altamente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previsíveis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e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fáceis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de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indexar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.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Exemplo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: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Tabela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de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clientes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e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transações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bancárias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175" y="2786062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4175" y="3490912"/>
            <a:ext cx="315367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 err="1">
                <a:solidFill>
                  <a:srgbClr val="1E293B"/>
                </a:solidFill>
                <a:latin typeface="Poppins"/>
              </a:rPr>
              <a:t>Semiestruturados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94175" y="3900487"/>
            <a:ext cx="3003500" cy="1439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Possuem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organização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flexível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e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marcadores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sem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tabela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rígida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. O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grande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foco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do NoSQL.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Exemplo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: JSON, BSON, XML e logs do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sistema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8725" y="2786062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78725" y="3490912"/>
            <a:ext cx="315367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1E293B"/>
                </a:solidFill>
                <a:latin typeface="Poppins"/>
              </a:rPr>
              <a:t>Não Estruturados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8725" y="3900487"/>
            <a:ext cx="3003500" cy="1808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 u="none" dirty="0">
                <a:solidFill>
                  <a:srgbClr val="475569"/>
                </a:solidFill>
                <a:latin typeface="Poppins"/>
              </a:rPr>
              <a:t>Sem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modelo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relacional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prévio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.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Representam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de 80% a 90% do volume global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atual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.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Exemplo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: Imagens de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câmeras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urbanas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,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vídeos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e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áudios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" y="2909887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4662" y="2909887"/>
            <a:ext cx="33337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9213" y="2909887"/>
            <a:ext cx="33337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Poppins"/>
              </a:rPr>
              <a:t>Tipos</a:t>
            </a:r>
            <a:r>
              <a:rPr sz="2400" b="1" i="0" u="none" dirty="0">
                <a:solidFill>
                  <a:srgbClr val="0F172A"/>
                </a:solidFill>
                <a:latin typeface="Poppins"/>
              </a:rPr>
              <a:t> de </a:t>
            </a:r>
            <a:r>
              <a:rPr sz="2400" b="1" i="0" u="none" dirty="0" err="1">
                <a:solidFill>
                  <a:srgbClr val="0F172A"/>
                </a:solidFill>
                <a:latin typeface="Poppins"/>
              </a:rPr>
              <a:t>Estruturas</a:t>
            </a:r>
            <a:r>
              <a:rPr sz="2400" b="1" i="0" u="none" dirty="0">
                <a:solidFill>
                  <a:srgbClr val="0F172A"/>
                </a:solidFill>
                <a:latin typeface="Poppins"/>
              </a:rPr>
              <a:t> de Dados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0" y="7239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824EECD-AD72-4E36-8F8E-BCD5EF273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743678"/>
            <a:ext cx="3939881" cy="39246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D1578C0-2B55-48D7-86DF-CB3D3560F8F3}"/>
              </a:ext>
            </a:extLst>
          </p:cNvPr>
          <p:cNvSpPr txBox="1"/>
          <p:nvPr/>
        </p:nvSpPr>
        <p:spPr>
          <a:xfrm>
            <a:off x="4881514" y="1764814"/>
            <a:ext cx="6975835" cy="390350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800" b="1" dirty="0">
                <a:latin typeface="Poppins"/>
              </a:rPr>
              <a:t>O Mundo Clássico: Dados Estruturados</a:t>
            </a:r>
          </a:p>
          <a:p>
            <a:pPr>
              <a:lnSpc>
                <a:spcPct val="150000"/>
              </a:lnSpc>
            </a:pPr>
            <a:endParaRPr lang="pt-BR" sz="2800" dirty="0">
              <a:latin typeface="Poppins"/>
            </a:endParaRPr>
          </a:p>
          <a:p>
            <a:pPr>
              <a:lnSpc>
                <a:spcPct val="150000"/>
              </a:lnSpc>
            </a:pPr>
            <a:r>
              <a:rPr lang="pt-BR" sz="2800" dirty="0">
                <a:latin typeface="Poppins"/>
              </a:rPr>
              <a:t>Regra: </a:t>
            </a:r>
            <a:r>
              <a:rPr lang="pt-BR" sz="2800" b="1" dirty="0">
                <a:latin typeface="Poppins"/>
              </a:rPr>
              <a:t>TUDO TEM O SEU LUGAR EXATO!</a:t>
            </a:r>
          </a:p>
          <a:p>
            <a:pPr>
              <a:lnSpc>
                <a:spcPct val="150000"/>
              </a:lnSpc>
            </a:pPr>
            <a:r>
              <a:rPr lang="pt-BR" sz="2800" dirty="0">
                <a:latin typeface="Poppins"/>
              </a:rPr>
              <a:t>1. Organização Rígida em linhas e colunas.</a:t>
            </a:r>
          </a:p>
          <a:p>
            <a:pPr>
              <a:lnSpc>
                <a:spcPct val="150000"/>
              </a:lnSpc>
            </a:pPr>
            <a:r>
              <a:rPr lang="pt-BR" sz="2800" dirty="0">
                <a:latin typeface="Poppins"/>
              </a:rPr>
              <a:t>2. Tipos de dados 100% previsíveis.</a:t>
            </a:r>
          </a:p>
          <a:p>
            <a:pPr>
              <a:lnSpc>
                <a:spcPct val="150000"/>
              </a:lnSpc>
            </a:pPr>
            <a:r>
              <a:rPr lang="pt-BR" sz="2800" dirty="0">
                <a:latin typeface="Poppins"/>
              </a:rPr>
              <a:t>3. Fácil de consultar usando SQL tradicional.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230B6069-A023-454E-B500-F37042DE2F45}"/>
              </a:ext>
            </a:extLst>
          </p:cNvPr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Poppins"/>
              </a:rPr>
              <a:t>Tipos</a:t>
            </a:r>
            <a:r>
              <a:rPr sz="2400" b="1" i="0" u="none" dirty="0">
                <a:solidFill>
                  <a:srgbClr val="0F172A"/>
                </a:solidFill>
                <a:latin typeface="Poppins"/>
              </a:rPr>
              <a:t> de </a:t>
            </a:r>
            <a:r>
              <a:rPr sz="2400" b="1" i="0" u="none" dirty="0" err="1">
                <a:solidFill>
                  <a:srgbClr val="0F172A"/>
                </a:solidFill>
                <a:latin typeface="Poppins"/>
              </a:rPr>
              <a:t>Estruturas</a:t>
            </a:r>
            <a:r>
              <a:rPr sz="2400" b="1" i="0" u="none" dirty="0">
                <a:solidFill>
                  <a:srgbClr val="0F172A"/>
                </a:solidFill>
                <a:latin typeface="Poppins"/>
              </a:rPr>
              <a:t> de Dados</a:t>
            </a:r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15C73807-2F59-471B-B211-2BF3BBF4E1F8}"/>
              </a:ext>
            </a:extLst>
          </p:cNvPr>
          <p:cNvSpPr/>
          <p:nvPr/>
        </p:nvSpPr>
        <p:spPr>
          <a:xfrm>
            <a:off x="5810250" y="7239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939625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Poppins"/>
              </a:rPr>
              <a:t>Tipos</a:t>
            </a:r>
            <a:r>
              <a:rPr sz="2400" b="1" i="0" u="none" dirty="0">
                <a:solidFill>
                  <a:srgbClr val="0F172A"/>
                </a:solidFill>
                <a:latin typeface="Poppins"/>
              </a:rPr>
              <a:t> de </a:t>
            </a:r>
            <a:r>
              <a:rPr sz="2400" b="1" i="0" u="none" dirty="0" err="1">
                <a:solidFill>
                  <a:srgbClr val="0F172A"/>
                </a:solidFill>
                <a:latin typeface="Poppins"/>
              </a:rPr>
              <a:t>Estruturas</a:t>
            </a:r>
            <a:r>
              <a:rPr sz="2400" b="1" i="0" u="none" dirty="0">
                <a:solidFill>
                  <a:srgbClr val="0F172A"/>
                </a:solidFill>
                <a:latin typeface="Poppins"/>
              </a:rPr>
              <a:t> de Dados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0" y="7239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F26F60A-A86F-43AA-BA7A-191D727A6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078" y="2049403"/>
            <a:ext cx="9274344" cy="435139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AE59807C-38ED-418C-BA68-42513D87DA79}"/>
              </a:ext>
            </a:extLst>
          </p:cNvPr>
          <p:cNvSpPr txBox="1"/>
          <p:nvPr/>
        </p:nvSpPr>
        <p:spPr>
          <a:xfrm>
            <a:off x="2608082" y="1145976"/>
            <a:ext cx="6975835" cy="6718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800" b="1" dirty="0">
                <a:latin typeface="Poppins"/>
              </a:rPr>
              <a:t>O Caos Real: Dados Não Estruturados</a:t>
            </a:r>
            <a:endParaRPr lang="pt-BR" sz="2800" dirty="0"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266611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Poppins"/>
              </a:rPr>
              <a:t>Tipos</a:t>
            </a:r>
            <a:r>
              <a:rPr sz="2400" b="1" i="0" u="none" dirty="0">
                <a:solidFill>
                  <a:srgbClr val="0F172A"/>
                </a:solidFill>
                <a:latin typeface="Poppins"/>
              </a:rPr>
              <a:t> de </a:t>
            </a:r>
            <a:r>
              <a:rPr sz="2400" b="1" i="0" u="none" dirty="0" err="1">
                <a:solidFill>
                  <a:srgbClr val="0F172A"/>
                </a:solidFill>
                <a:latin typeface="Poppins"/>
              </a:rPr>
              <a:t>Estruturas</a:t>
            </a:r>
            <a:r>
              <a:rPr sz="2400" b="1" i="0" u="none" dirty="0">
                <a:solidFill>
                  <a:srgbClr val="0F172A"/>
                </a:solidFill>
                <a:latin typeface="Poppins"/>
              </a:rPr>
              <a:t> de Dados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0" y="7239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E59807C-38ED-418C-BA68-42513D87DA79}"/>
              </a:ext>
            </a:extLst>
          </p:cNvPr>
          <p:cNvSpPr txBox="1"/>
          <p:nvPr/>
        </p:nvSpPr>
        <p:spPr>
          <a:xfrm>
            <a:off x="2608082" y="1145976"/>
            <a:ext cx="6975835" cy="6718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800" b="1" dirty="0">
                <a:latin typeface="Poppins"/>
              </a:rPr>
              <a:t>Ponto de Equilíbrio: Dados </a:t>
            </a:r>
            <a:r>
              <a:rPr lang="pt-BR" sz="2800" b="1" dirty="0" err="1">
                <a:latin typeface="Poppins"/>
              </a:rPr>
              <a:t>Semi</a:t>
            </a:r>
            <a:r>
              <a:rPr lang="pt-BR" sz="2800" b="1" dirty="0">
                <a:latin typeface="Poppins"/>
              </a:rPr>
              <a:t> Estruturados</a:t>
            </a:r>
            <a:endParaRPr lang="pt-BR" sz="2800" dirty="0">
              <a:latin typeface="Poppins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889B8B0-77D6-42B4-A8B6-8A32BE148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241" y="2049403"/>
            <a:ext cx="8969517" cy="426757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33996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" y="457200"/>
            <a:ext cx="564070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oppins"/>
              </a:rPr>
              <a:t>O </a:t>
            </a:r>
            <a:r>
              <a:rPr sz="2400" b="1" i="0" u="none" dirty="0" err="1">
                <a:solidFill>
                  <a:srgbClr val="0F172A"/>
                </a:solidFill>
                <a:latin typeface="Poppins"/>
              </a:rPr>
              <a:t>Pano</a:t>
            </a:r>
            <a:r>
              <a:rPr sz="2400" b="1" i="0" u="none" dirty="0">
                <a:solidFill>
                  <a:srgbClr val="0F172A"/>
                </a:solidFill>
                <a:latin typeface="Poppins"/>
              </a:rPr>
              <a:t> de Fundo do</a:t>
            </a:r>
            <a:r>
              <a:rPr lang="pt-BR" sz="2400" b="1" i="0" u="none" dirty="0">
                <a:solidFill>
                  <a:srgbClr val="0F172A"/>
                </a:solidFill>
                <a:latin typeface="Poppins"/>
              </a:rPr>
              <a:t> </a:t>
            </a:r>
            <a:r>
              <a:rPr sz="2400" b="1" i="0" u="none" dirty="0">
                <a:solidFill>
                  <a:srgbClr val="0F172A"/>
                </a:solidFill>
                <a:latin typeface="Poppins"/>
              </a:rPr>
              <a:t>Big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33700" y="7239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894F85E-5EEC-4E64-B888-9BB418DBF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99" y="1093232"/>
            <a:ext cx="11428602" cy="51054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07" y="1059144"/>
            <a:ext cx="5372100" cy="160684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107" y="1059143"/>
            <a:ext cx="5372100" cy="16068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0132" y="1373468"/>
            <a:ext cx="4660582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oppins"/>
              </a:rPr>
              <a:t>Limitações do RDBMS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332" y="1783043"/>
            <a:ext cx="4743450" cy="936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Rigidez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de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esquema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(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difícil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evolução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), alto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custo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financeiro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para </a:t>
            </a:r>
            <a:r>
              <a:rPr lang="pt-BR" sz="1400" b="0" i="0" u="none" dirty="0">
                <a:solidFill>
                  <a:srgbClr val="475569"/>
                </a:solidFill>
                <a:latin typeface="Poppins"/>
              </a:rPr>
              <a:t>escalabilidade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vertical (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escala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em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uma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única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lang="pt-BR" sz="1400" b="0" i="0" u="none" dirty="0">
                <a:solidFill>
                  <a:srgbClr val="475569"/>
                </a:solidFill>
                <a:latin typeface="Poppins"/>
              </a:rPr>
              <a:t>máquina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) e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lentidão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em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operações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de JOIN cruzado com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bilhões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de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registros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3232" y="1373468"/>
            <a:ext cx="4660582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oppins"/>
              </a:rPr>
              <a:t>A Solução NoSQL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8432" y="1783043"/>
            <a:ext cx="4743450" cy="936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Modelo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"</a:t>
            </a:r>
            <a:r>
              <a:rPr sz="1400" b="1" i="0" u="none" dirty="0">
                <a:solidFill>
                  <a:srgbClr val="475569"/>
                </a:solidFill>
                <a:latin typeface="Poppins"/>
              </a:rPr>
              <a:t>Not Only SQL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" com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esquemas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dinâmicos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,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leitura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/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escrita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de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altíssimo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desempenho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e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escalabilidade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horizontal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nativa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(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distribuição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por clusters e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sharding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332" y="1425856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8432" y="1425856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Modelo Relacional vs. NoSQL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0" y="7239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3AC6DB35-E5CD-43D7-896A-6E972850D5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0923" y="2810732"/>
            <a:ext cx="8313942" cy="38771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67000"/>
            <a:ext cx="4297560" cy="2324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3900" y="3048000"/>
            <a:ext cx="391656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750"/>
              </a:lnSpc>
            </a:pPr>
            <a:r>
              <a:rPr sz="9750" b="0" i="0" u="none">
                <a:solidFill>
                  <a:srgbClr val="38BDF8"/>
                </a:solidFill>
                <a:latin typeface="Poppins ExtraBold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4381500"/>
            <a:ext cx="3916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FFFFFF"/>
                </a:solidFill>
                <a:latin typeface="Inter SemiBold"/>
              </a:rPr>
              <a:t>Propriedades do Teorema 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1960" y="1859458"/>
            <a:ext cx="676897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 dirty="0" err="1">
                <a:solidFill>
                  <a:srgbClr val="1E293B"/>
                </a:solidFill>
                <a:latin typeface="Poppins"/>
              </a:rPr>
              <a:t>Consistência</a:t>
            </a:r>
            <a:r>
              <a:rPr sz="2000" b="1" i="0" u="none" dirty="0">
                <a:solidFill>
                  <a:srgbClr val="1E293B"/>
                </a:solidFill>
                <a:latin typeface="Poppins"/>
              </a:rPr>
              <a:t>, </a:t>
            </a:r>
            <a:r>
              <a:rPr sz="2000" b="1" i="0" u="none" dirty="0" err="1">
                <a:solidFill>
                  <a:srgbClr val="1E293B"/>
                </a:solidFill>
                <a:latin typeface="Poppins"/>
              </a:rPr>
              <a:t>Disponibilidade</a:t>
            </a:r>
            <a:r>
              <a:rPr sz="2000" b="1" i="0" u="none" dirty="0">
                <a:solidFill>
                  <a:srgbClr val="1E293B"/>
                </a:solidFill>
                <a:latin typeface="Poppins"/>
              </a:rPr>
              <a:t> e </a:t>
            </a:r>
            <a:r>
              <a:rPr sz="2000" b="1" i="0" u="none" dirty="0" err="1">
                <a:solidFill>
                  <a:srgbClr val="1E293B"/>
                </a:solidFill>
                <a:latin typeface="Poppins"/>
              </a:rPr>
              <a:t>Tolerância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11960" y="2325637"/>
            <a:ext cx="6446639" cy="1798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sz="2000" b="0" i="0" u="none" dirty="0" err="1">
                <a:solidFill>
                  <a:srgbClr val="475569"/>
                </a:solidFill>
                <a:latin typeface="Poppins"/>
              </a:rPr>
              <a:t>Formulado</a:t>
            </a:r>
            <a:r>
              <a:rPr sz="2000" b="0" i="0" u="none" dirty="0">
                <a:solidFill>
                  <a:srgbClr val="475569"/>
                </a:solidFill>
                <a:latin typeface="Poppins"/>
              </a:rPr>
              <a:t> por Eric Brewer, o </a:t>
            </a:r>
            <a:r>
              <a:rPr sz="2000" b="0" i="0" u="none" dirty="0" err="1">
                <a:solidFill>
                  <a:srgbClr val="475569"/>
                </a:solidFill>
                <a:latin typeface="Poppins"/>
              </a:rPr>
              <a:t>teorema</a:t>
            </a:r>
            <a:r>
              <a:rPr sz="20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Poppins"/>
              </a:rPr>
              <a:t>comprova</a:t>
            </a:r>
            <a:r>
              <a:rPr sz="2000" b="0" i="0" u="none" dirty="0">
                <a:solidFill>
                  <a:srgbClr val="475569"/>
                </a:solidFill>
                <a:latin typeface="Poppins"/>
              </a:rPr>
              <a:t> que um </a:t>
            </a:r>
            <a:r>
              <a:rPr sz="2000" b="0" i="0" u="none" dirty="0" err="1">
                <a:solidFill>
                  <a:srgbClr val="475569"/>
                </a:solidFill>
                <a:latin typeface="Poppins"/>
              </a:rPr>
              <a:t>sistema</a:t>
            </a:r>
            <a:r>
              <a:rPr sz="20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Poppins"/>
              </a:rPr>
              <a:t>distribuído</a:t>
            </a:r>
            <a:r>
              <a:rPr sz="20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Poppins"/>
              </a:rPr>
              <a:t>pode</a:t>
            </a:r>
            <a:r>
              <a:rPr sz="20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Poppins"/>
              </a:rPr>
              <a:t>garantir</a:t>
            </a:r>
            <a:r>
              <a:rPr sz="20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lang="pt-BR" sz="2000" b="1" i="0" u="none" dirty="0">
                <a:solidFill>
                  <a:srgbClr val="FF0000"/>
                </a:solidFill>
                <a:latin typeface="Poppins"/>
              </a:rPr>
              <a:t>NO MÁXIMO DUAS DESTAS TRÊS PROPRIEDADES SIMULTANEAMENTE DIANTE DE FALHAS DE REDE</a:t>
            </a:r>
            <a:r>
              <a:rPr sz="2000" b="0" i="0" u="none" dirty="0">
                <a:solidFill>
                  <a:srgbClr val="475569"/>
                </a:solidFill>
                <a:latin typeface="Poppins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1960" y="4300779"/>
            <a:ext cx="6446639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i="0" u="none" dirty="0">
                <a:solidFill>
                  <a:srgbClr val="475569"/>
                </a:solidFill>
                <a:latin typeface="Poppins"/>
              </a:rPr>
              <a:t>C (Consistency):</a:t>
            </a:r>
            <a:r>
              <a:rPr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oppins"/>
              </a:rPr>
              <a:t>Todos</a:t>
            </a:r>
            <a:r>
              <a:rPr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oppins"/>
              </a:rPr>
              <a:t>os</a:t>
            </a:r>
            <a:r>
              <a:rPr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oppins"/>
              </a:rPr>
              <a:t>nós</a:t>
            </a:r>
            <a:r>
              <a:rPr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oppins"/>
              </a:rPr>
              <a:t>enxergam</a:t>
            </a:r>
            <a:r>
              <a:rPr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oppins"/>
              </a:rPr>
              <a:t>os</a:t>
            </a:r>
            <a:r>
              <a:rPr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oppins"/>
              </a:rPr>
              <a:t>mesmos</a:t>
            </a:r>
            <a:r>
              <a:rPr b="0" i="0" u="none" dirty="0">
                <a:solidFill>
                  <a:srgbClr val="475569"/>
                </a:solidFill>
                <a:latin typeface="Poppins"/>
              </a:rPr>
              <a:t> dados </a:t>
            </a:r>
            <a:r>
              <a:rPr b="0" i="0" u="none" dirty="0" err="1">
                <a:solidFill>
                  <a:srgbClr val="475569"/>
                </a:solidFill>
                <a:latin typeface="Poppins"/>
              </a:rPr>
              <a:t>ao</a:t>
            </a:r>
            <a:r>
              <a:rPr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oppins"/>
              </a:rPr>
              <a:t>mesmo</a:t>
            </a:r>
            <a:r>
              <a:rPr b="0" i="0" u="none" dirty="0">
                <a:solidFill>
                  <a:srgbClr val="475569"/>
                </a:solidFill>
                <a:latin typeface="Poppins"/>
              </a:rPr>
              <a:t> tempo.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1960" y="4910761"/>
            <a:ext cx="6446639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i="0" u="none" dirty="0">
                <a:solidFill>
                  <a:srgbClr val="475569"/>
                </a:solidFill>
                <a:latin typeface="Poppins"/>
              </a:rPr>
              <a:t>A (Availability):</a:t>
            </a:r>
            <a:r>
              <a:rPr b="0" i="0" u="none" dirty="0">
                <a:solidFill>
                  <a:srgbClr val="475569"/>
                </a:solidFill>
                <a:latin typeface="Poppins"/>
              </a:rPr>
              <a:t> Toda </a:t>
            </a:r>
            <a:r>
              <a:rPr b="0" i="0" u="none" dirty="0" err="1">
                <a:solidFill>
                  <a:srgbClr val="475569"/>
                </a:solidFill>
                <a:latin typeface="Poppins"/>
              </a:rPr>
              <a:t>requisição</a:t>
            </a:r>
            <a:r>
              <a:rPr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oppins"/>
              </a:rPr>
              <a:t>recebe</a:t>
            </a:r>
            <a:r>
              <a:rPr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oppins"/>
              </a:rPr>
              <a:t>uma</a:t>
            </a:r>
            <a:r>
              <a:rPr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oppins"/>
              </a:rPr>
              <a:t>resposta</a:t>
            </a:r>
            <a:r>
              <a:rPr b="0" i="0" u="none" dirty="0">
                <a:solidFill>
                  <a:srgbClr val="475569"/>
                </a:solidFill>
                <a:latin typeface="Poppins"/>
              </a:rPr>
              <a:t> de </a:t>
            </a:r>
            <a:r>
              <a:rPr b="0" i="0" u="none" dirty="0" err="1">
                <a:solidFill>
                  <a:srgbClr val="475569"/>
                </a:solidFill>
                <a:latin typeface="Poppins"/>
              </a:rPr>
              <a:t>sucesso</a:t>
            </a:r>
            <a:r>
              <a:rPr b="0" i="0" u="none" dirty="0">
                <a:solidFill>
                  <a:srgbClr val="475569"/>
                </a:solidFill>
                <a:latin typeface="Poppins"/>
              </a:rPr>
              <a:t>/</a:t>
            </a:r>
            <a:r>
              <a:rPr b="0" i="0" u="none" dirty="0" err="1">
                <a:solidFill>
                  <a:srgbClr val="475569"/>
                </a:solidFill>
                <a:latin typeface="Poppins"/>
              </a:rPr>
              <a:t>falha</a:t>
            </a:r>
            <a:r>
              <a:rPr b="0" i="0" u="none" dirty="0">
                <a:solidFill>
                  <a:srgbClr val="475569"/>
                </a:solidFill>
                <a:latin typeface="Poppi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1960" y="5640723"/>
            <a:ext cx="6446639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i="0" u="none" dirty="0">
                <a:solidFill>
                  <a:srgbClr val="475569"/>
                </a:solidFill>
                <a:latin typeface="Poppins"/>
              </a:rPr>
              <a:t>P (Partition Tolerance):</a:t>
            </a:r>
            <a:r>
              <a:rPr b="0" i="0" u="none" dirty="0">
                <a:solidFill>
                  <a:srgbClr val="475569"/>
                </a:solidFill>
                <a:latin typeface="Poppins"/>
              </a:rPr>
              <a:t> O </a:t>
            </a:r>
            <a:r>
              <a:rPr b="0" i="0" u="none" dirty="0" err="1">
                <a:solidFill>
                  <a:srgbClr val="475569"/>
                </a:solidFill>
                <a:latin typeface="Poppins"/>
              </a:rPr>
              <a:t>sistema</a:t>
            </a:r>
            <a:r>
              <a:rPr b="0" i="0" u="none" dirty="0">
                <a:solidFill>
                  <a:srgbClr val="475569"/>
                </a:solidFill>
                <a:latin typeface="Poppins"/>
              </a:rPr>
              <a:t> continua operando </a:t>
            </a:r>
            <a:r>
              <a:rPr b="0" i="0" u="none" dirty="0" err="1">
                <a:solidFill>
                  <a:srgbClr val="475569"/>
                </a:solidFill>
                <a:latin typeface="Poppins"/>
              </a:rPr>
              <a:t>apesar</a:t>
            </a:r>
            <a:r>
              <a:rPr b="0" i="0" u="none" dirty="0">
                <a:solidFill>
                  <a:srgbClr val="475569"/>
                </a:solidFill>
                <a:latin typeface="Poppins"/>
              </a:rPr>
              <a:t> da </a:t>
            </a:r>
            <a:r>
              <a:rPr b="0" i="0" u="none" dirty="0" err="1">
                <a:solidFill>
                  <a:srgbClr val="475569"/>
                </a:solidFill>
                <a:latin typeface="Poppins"/>
              </a:rPr>
              <a:t>perda</a:t>
            </a:r>
            <a:r>
              <a:rPr b="0" i="0" u="none" dirty="0">
                <a:solidFill>
                  <a:srgbClr val="475569"/>
                </a:solidFill>
                <a:latin typeface="Poppins"/>
              </a:rPr>
              <a:t> de </a:t>
            </a:r>
            <a:r>
              <a:rPr b="0" i="0" u="none" dirty="0" err="1">
                <a:solidFill>
                  <a:srgbClr val="475569"/>
                </a:solidFill>
                <a:latin typeface="Poppins"/>
              </a:rPr>
              <a:t>mensagens</a:t>
            </a:r>
            <a:r>
              <a:rPr b="0" i="0" u="none" dirty="0">
                <a:solidFill>
                  <a:srgbClr val="475569"/>
                </a:solidFill>
                <a:latin typeface="Poppi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O Teorema CAP Explicado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0" y="7239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O Teorema CAP Explicado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0" y="7239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1C42133-25D5-4BB5-946B-331150D59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33" y="1181100"/>
            <a:ext cx="11321133" cy="53721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25676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200275"/>
            <a:ext cx="11125200" cy="325755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385767"/>
              </p:ext>
            </p:extLst>
          </p:nvPr>
        </p:nvGraphicFramePr>
        <p:xfrm>
          <a:off x="542925" y="2209800"/>
          <a:ext cx="11106148" cy="323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8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6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9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1800" b="1" i="0" u="none" dirty="0" err="1">
                          <a:solidFill>
                            <a:srgbClr val="FFFFFF"/>
                          </a:solidFill>
                          <a:latin typeface="Poppins"/>
                        </a:rPr>
                        <a:t>Categoria</a:t>
                      </a:r>
                      <a:endParaRPr sz="1800" b="1" i="0" u="none" dirty="0">
                        <a:solidFill>
                          <a:srgbClr val="FFFFFF"/>
                        </a:solidFill>
                        <a:latin typeface="Poppi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 dirty="0" err="1">
                          <a:solidFill>
                            <a:srgbClr val="FFFFFF"/>
                          </a:solidFill>
                          <a:latin typeface="Poppins"/>
                        </a:rPr>
                        <a:t>Modelo</a:t>
                      </a:r>
                      <a:r>
                        <a:rPr sz="1800" b="1" i="0" u="none" dirty="0">
                          <a:solidFill>
                            <a:srgbClr val="FFFFFF"/>
                          </a:solidFill>
                          <a:latin typeface="Poppins"/>
                        </a:rPr>
                        <a:t> de Dados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 dirty="0">
                          <a:solidFill>
                            <a:srgbClr val="FFFFFF"/>
                          </a:solidFill>
                          <a:latin typeface="Poppins"/>
                        </a:rPr>
                        <a:t>Caso de </a:t>
                      </a:r>
                      <a:r>
                        <a:rPr sz="1800" b="1" i="0" u="none" dirty="0" err="1">
                          <a:solidFill>
                            <a:srgbClr val="FFFFFF"/>
                          </a:solidFill>
                          <a:latin typeface="Poppins"/>
                        </a:rPr>
                        <a:t>Uso</a:t>
                      </a:r>
                      <a:r>
                        <a:rPr sz="1800" b="1" i="0" u="none" dirty="0">
                          <a:solidFill>
                            <a:srgbClr val="FFFFFF"/>
                          </a:solidFill>
                          <a:latin typeface="Poppins"/>
                        </a:rPr>
                        <a:t> Principal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 dirty="0" err="1">
                          <a:solidFill>
                            <a:srgbClr val="FFFFFF"/>
                          </a:solidFill>
                          <a:latin typeface="Poppins"/>
                        </a:rPr>
                        <a:t>Plataforma</a:t>
                      </a:r>
                      <a:r>
                        <a:rPr sz="1800" b="1" i="0" u="none" dirty="0">
                          <a:solidFill>
                            <a:srgbClr val="FFFFFF"/>
                          </a:solidFill>
                          <a:latin typeface="Poppins"/>
                        </a:rPr>
                        <a:t> Cloud </a:t>
                      </a:r>
                      <a:r>
                        <a:rPr sz="1800" b="1" i="0" u="none" dirty="0" err="1">
                          <a:solidFill>
                            <a:srgbClr val="FFFFFF"/>
                          </a:solidFill>
                          <a:latin typeface="Poppins"/>
                        </a:rPr>
                        <a:t>Gratuita</a:t>
                      </a:r>
                      <a:endParaRPr sz="1800" b="1" i="0" u="none" dirty="0">
                        <a:solidFill>
                          <a:srgbClr val="FFFFFF"/>
                        </a:solidFill>
                        <a:latin typeface="Poppi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 err="1">
                          <a:solidFill>
                            <a:srgbClr val="475569"/>
                          </a:solidFill>
                          <a:latin typeface="Poppins"/>
                        </a:rPr>
                        <a:t>Chave</a:t>
                      </a:r>
                      <a:r>
                        <a:rPr sz="1600" b="1" i="0" u="none" dirty="0">
                          <a:solidFill>
                            <a:srgbClr val="475569"/>
                          </a:solidFill>
                          <a:latin typeface="Poppins"/>
                        </a:rPr>
                        <a:t>-Valor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475569"/>
                          </a:solidFill>
                          <a:latin typeface="Poppins"/>
                        </a:rPr>
                        <a:t>Chaves </a:t>
                      </a:r>
                      <a:r>
                        <a:rPr sz="1600" b="0" i="0" u="none" dirty="0" err="1">
                          <a:solidFill>
                            <a:srgbClr val="475569"/>
                          </a:solidFill>
                          <a:latin typeface="Poppins"/>
                        </a:rPr>
                        <a:t>únicas</a:t>
                      </a:r>
                      <a:r>
                        <a:rPr sz="1600" b="0" i="0" u="none" dirty="0">
                          <a:solidFill>
                            <a:srgbClr val="475569"/>
                          </a:solidFill>
                          <a:latin typeface="Poppins"/>
                        </a:rPr>
                        <a:t> </a:t>
                      </a:r>
                      <a:r>
                        <a:rPr sz="1600" b="0" i="0" u="none" dirty="0" err="1">
                          <a:solidFill>
                            <a:srgbClr val="475569"/>
                          </a:solidFill>
                          <a:latin typeface="Poppins"/>
                        </a:rPr>
                        <a:t>associadas</a:t>
                      </a:r>
                      <a:r>
                        <a:rPr sz="1600" b="0" i="0" u="none" dirty="0">
                          <a:solidFill>
                            <a:srgbClr val="475569"/>
                          </a:solidFill>
                          <a:latin typeface="Poppins"/>
                        </a:rPr>
                        <a:t> a </a:t>
                      </a:r>
                      <a:r>
                        <a:rPr sz="1600" b="0" i="0" u="none" dirty="0" err="1">
                          <a:solidFill>
                            <a:srgbClr val="475569"/>
                          </a:solidFill>
                          <a:latin typeface="Poppins"/>
                        </a:rPr>
                        <a:t>valores</a:t>
                      </a:r>
                      <a:r>
                        <a:rPr sz="1600" b="0" i="0" u="none" dirty="0">
                          <a:solidFill>
                            <a:srgbClr val="475569"/>
                          </a:solidFill>
                          <a:latin typeface="Poppins"/>
                        </a:rPr>
                        <a:t> </a:t>
                      </a:r>
                      <a:r>
                        <a:rPr sz="1600" b="0" i="0" u="none" dirty="0" err="1">
                          <a:solidFill>
                            <a:srgbClr val="475569"/>
                          </a:solidFill>
                          <a:latin typeface="Poppins"/>
                        </a:rPr>
                        <a:t>brutos</a:t>
                      </a:r>
                      <a:endParaRPr sz="1600" b="0" i="0" u="none" dirty="0">
                        <a:solidFill>
                          <a:srgbClr val="475569"/>
                        </a:solidFill>
                        <a:latin typeface="Poppi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475569"/>
                          </a:solidFill>
                          <a:latin typeface="Poppins"/>
                        </a:rPr>
                        <a:t>Caches de alta velocidade, sessões e contadores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475569"/>
                          </a:solidFill>
                          <a:latin typeface="Poppins"/>
                        </a:rPr>
                        <a:t>Redis Cloud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 err="1">
                          <a:solidFill>
                            <a:srgbClr val="475569"/>
                          </a:solidFill>
                          <a:latin typeface="Poppins"/>
                        </a:rPr>
                        <a:t>Documentos</a:t>
                      </a:r>
                      <a:endParaRPr sz="1600" b="1" i="0" u="none" dirty="0">
                        <a:solidFill>
                          <a:srgbClr val="475569"/>
                        </a:solidFill>
                        <a:latin typeface="Poppi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 err="1">
                          <a:solidFill>
                            <a:srgbClr val="475569"/>
                          </a:solidFill>
                          <a:latin typeface="Poppins"/>
                        </a:rPr>
                        <a:t>Documentos</a:t>
                      </a:r>
                      <a:r>
                        <a:rPr sz="1600" b="0" i="0" u="none" dirty="0">
                          <a:solidFill>
                            <a:srgbClr val="475569"/>
                          </a:solidFill>
                          <a:latin typeface="Poppins"/>
                        </a:rPr>
                        <a:t> </a:t>
                      </a:r>
                      <a:r>
                        <a:rPr sz="1600" b="0" i="0" u="none" dirty="0" err="1">
                          <a:solidFill>
                            <a:srgbClr val="475569"/>
                          </a:solidFill>
                          <a:latin typeface="Poppins"/>
                        </a:rPr>
                        <a:t>hierárquicos</a:t>
                      </a:r>
                      <a:r>
                        <a:rPr sz="1600" b="0" i="0" u="none" dirty="0">
                          <a:solidFill>
                            <a:srgbClr val="475569"/>
                          </a:solidFill>
                          <a:latin typeface="Poppins"/>
                        </a:rPr>
                        <a:t> (JSON / BSON)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475569"/>
                          </a:solidFill>
                          <a:latin typeface="Poppins"/>
                        </a:rPr>
                        <a:t>Aplicações web, catálogos, perfis de usuário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475569"/>
                          </a:solidFill>
                          <a:latin typeface="Poppins"/>
                        </a:rPr>
                        <a:t>MongoDB Atlas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475569"/>
                          </a:solidFill>
                          <a:latin typeface="Poppins"/>
                        </a:rPr>
                        <a:t>Colunas Largas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 err="1">
                          <a:solidFill>
                            <a:srgbClr val="475569"/>
                          </a:solidFill>
                          <a:latin typeface="Poppins"/>
                        </a:rPr>
                        <a:t>Famílias</a:t>
                      </a:r>
                      <a:r>
                        <a:rPr sz="1600" b="0" i="0" u="none" dirty="0">
                          <a:solidFill>
                            <a:srgbClr val="475569"/>
                          </a:solidFill>
                          <a:latin typeface="Poppins"/>
                        </a:rPr>
                        <a:t> de </a:t>
                      </a:r>
                      <a:r>
                        <a:rPr sz="1600" b="0" i="0" u="none" dirty="0" err="1">
                          <a:solidFill>
                            <a:srgbClr val="475569"/>
                          </a:solidFill>
                          <a:latin typeface="Poppins"/>
                        </a:rPr>
                        <a:t>colunas</a:t>
                      </a:r>
                      <a:r>
                        <a:rPr sz="1600" b="0" i="0" u="none" dirty="0">
                          <a:solidFill>
                            <a:srgbClr val="475569"/>
                          </a:solidFill>
                          <a:latin typeface="Poppins"/>
                        </a:rPr>
                        <a:t> </a:t>
                      </a:r>
                      <a:r>
                        <a:rPr sz="1600" b="0" i="0" u="none" dirty="0" err="1">
                          <a:solidFill>
                            <a:srgbClr val="475569"/>
                          </a:solidFill>
                          <a:latin typeface="Poppins"/>
                        </a:rPr>
                        <a:t>dinâmicas</a:t>
                      </a:r>
                      <a:endParaRPr sz="1600" b="0" i="0" u="none" dirty="0">
                        <a:solidFill>
                          <a:srgbClr val="475569"/>
                        </a:solidFill>
                        <a:latin typeface="Poppi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475569"/>
                          </a:solidFill>
                          <a:latin typeface="Poppins"/>
                        </a:rPr>
                        <a:t>Logs de auditoria, Big Data, </a:t>
                      </a:r>
                      <a:r>
                        <a:rPr sz="1600" b="0" i="0" u="none" dirty="0" err="1">
                          <a:solidFill>
                            <a:srgbClr val="475569"/>
                          </a:solidFill>
                          <a:latin typeface="Poppins"/>
                        </a:rPr>
                        <a:t>séries</a:t>
                      </a:r>
                      <a:r>
                        <a:rPr sz="1600" b="0" i="0" u="none" dirty="0">
                          <a:solidFill>
                            <a:srgbClr val="475569"/>
                          </a:solidFill>
                          <a:latin typeface="Poppins"/>
                        </a:rPr>
                        <a:t> </a:t>
                      </a:r>
                      <a:r>
                        <a:rPr sz="1600" b="0" i="0" u="none" dirty="0" err="1">
                          <a:solidFill>
                            <a:srgbClr val="475569"/>
                          </a:solidFill>
                          <a:latin typeface="Poppins"/>
                        </a:rPr>
                        <a:t>temporais</a:t>
                      </a:r>
                      <a:endParaRPr sz="1600" b="0" i="0" u="none" dirty="0">
                        <a:solidFill>
                          <a:srgbClr val="475569"/>
                        </a:solidFill>
                        <a:latin typeface="Poppi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475569"/>
                          </a:solidFill>
                          <a:latin typeface="Poppins"/>
                        </a:rPr>
                        <a:t>DataStax Astra DB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475569"/>
                          </a:solidFill>
                          <a:latin typeface="Poppins"/>
                        </a:rPr>
                        <a:t>Grafos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 err="1">
                          <a:solidFill>
                            <a:srgbClr val="475569"/>
                          </a:solidFill>
                          <a:latin typeface="Poppins"/>
                        </a:rPr>
                        <a:t>Nós</a:t>
                      </a:r>
                      <a:r>
                        <a:rPr sz="1600" b="0" i="0" u="none" dirty="0">
                          <a:solidFill>
                            <a:srgbClr val="475569"/>
                          </a:solidFill>
                          <a:latin typeface="Poppins"/>
                        </a:rPr>
                        <a:t>, </a:t>
                      </a:r>
                      <a:r>
                        <a:rPr sz="1600" b="0" i="0" u="none" dirty="0" err="1">
                          <a:solidFill>
                            <a:srgbClr val="475569"/>
                          </a:solidFill>
                          <a:latin typeface="Poppins"/>
                        </a:rPr>
                        <a:t>arestas</a:t>
                      </a:r>
                      <a:r>
                        <a:rPr sz="1600" b="0" i="0" u="none" dirty="0">
                          <a:solidFill>
                            <a:srgbClr val="475569"/>
                          </a:solidFill>
                          <a:latin typeface="Poppins"/>
                        </a:rPr>
                        <a:t> (</a:t>
                      </a:r>
                      <a:r>
                        <a:rPr sz="1600" b="0" i="0" u="none" dirty="0" err="1">
                          <a:solidFill>
                            <a:srgbClr val="475569"/>
                          </a:solidFill>
                          <a:latin typeface="Poppins"/>
                        </a:rPr>
                        <a:t>relacionamentos</a:t>
                      </a:r>
                      <a:r>
                        <a:rPr sz="1600" b="0" i="0" u="none" dirty="0">
                          <a:solidFill>
                            <a:srgbClr val="475569"/>
                          </a:solidFill>
                          <a:latin typeface="Poppins"/>
                        </a:rPr>
                        <a:t>) e </a:t>
                      </a:r>
                      <a:r>
                        <a:rPr sz="1600" b="0" i="0" u="none" dirty="0" err="1">
                          <a:solidFill>
                            <a:srgbClr val="475569"/>
                          </a:solidFill>
                          <a:latin typeface="Poppins"/>
                        </a:rPr>
                        <a:t>propriedades</a:t>
                      </a:r>
                      <a:endParaRPr sz="1600" b="0" i="0" u="none" dirty="0">
                        <a:solidFill>
                          <a:srgbClr val="475569"/>
                        </a:solidFill>
                        <a:latin typeface="Poppi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475569"/>
                          </a:solidFill>
                          <a:latin typeface="Poppins"/>
                        </a:rPr>
                        <a:t>Redes </a:t>
                      </a:r>
                      <a:r>
                        <a:rPr sz="1600" b="0" i="0" u="none" dirty="0" err="1">
                          <a:solidFill>
                            <a:srgbClr val="475569"/>
                          </a:solidFill>
                          <a:latin typeface="Poppins"/>
                        </a:rPr>
                        <a:t>sociais</a:t>
                      </a:r>
                      <a:r>
                        <a:rPr sz="1600" b="0" i="0" u="none" dirty="0">
                          <a:solidFill>
                            <a:srgbClr val="475569"/>
                          </a:solidFill>
                          <a:latin typeface="Poppins"/>
                        </a:rPr>
                        <a:t>, </a:t>
                      </a:r>
                      <a:r>
                        <a:rPr sz="1600" b="0" i="0" u="none" dirty="0" err="1">
                          <a:solidFill>
                            <a:srgbClr val="475569"/>
                          </a:solidFill>
                          <a:latin typeface="Poppins"/>
                        </a:rPr>
                        <a:t>detecção</a:t>
                      </a:r>
                      <a:r>
                        <a:rPr sz="1600" b="0" i="0" u="none" dirty="0">
                          <a:solidFill>
                            <a:srgbClr val="475569"/>
                          </a:solidFill>
                          <a:latin typeface="Poppins"/>
                        </a:rPr>
                        <a:t> de </a:t>
                      </a:r>
                      <a:r>
                        <a:rPr sz="1600" b="0" i="0" u="none" dirty="0" err="1">
                          <a:solidFill>
                            <a:srgbClr val="475569"/>
                          </a:solidFill>
                          <a:latin typeface="Poppins"/>
                        </a:rPr>
                        <a:t>fraude</a:t>
                      </a:r>
                      <a:r>
                        <a:rPr sz="1600" b="0" i="0" u="none" dirty="0">
                          <a:solidFill>
                            <a:srgbClr val="475569"/>
                          </a:solidFill>
                          <a:latin typeface="Poppins"/>
                        </a:rPr>
                        <a:t>, </a:t>
                      </a:r>
                      <a:r>
                        <a:rPr sz="1600" b="0" i="0" u="none" dirty="0" err="1">
                          <a:solidFill>
                            <a:srgbClr val="475569"/>
                          </a:solidFill>
                          <a:latin typeface="Poppins"/>
                        </a:rPr>
                        <a:t>recomendação</a:t>
                      </a:r>
                      <a:endParaRPr sz="1600" b="0" i="0" u="none" dirty="0">
                        <a:solidFill>
                          <a:srgbClr val="475569"/>
                        </a:solidFill>
                        <a:latin typeface="Poppi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475569"/>
                          </a:solidFill>
                          <a:latin typeface="Poppins"/>
                        </a:rPr>
                        <a:t>Neo4j </a:t>
                      </a:r>
                      <a:r>
                        <a:rPr sz="1600" b="0" i="0" u="none" dirty="0" err="1">
                          <a:solidFill>
                            <a:srgbClr val="475569"/>
                          </a:solidFill>
                          <a:latin typeface="Poppins"/>
                        </a:rPr>
                        <a:t>AuraDB</a:t>
                      </a:r>
                      <a:endParaRPr sz="1600" b="0" i="0" u="none" dirty="0">
                        <a:solidFill>
                          <a:srgbClr val="475569"/>
                        </a:solidFill>
                        <a:latin typeface="Poppi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2925" y="3495675"/>
            <a:ext cx="14408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983730" y="3495675"/>
            <a:ext cx="34788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62587" y="3495675"/>
            <a:ext cx="37366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99215" y="3495675"/>
            <a:ext cx="24498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2925" y="4033837"/>
            <a:ext cx="14408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983730" y="4033837"/>
            <a:ext cx="34788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62587" y="4033837"/>
            <a:ext cx="37366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99215" y="4033837"/>
            <a:ext cx="24498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2925" y="4738687"/>
            <a:ext cx="14408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983730" y="4738687"/>
            <a:ext cx="34788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62587" y="4738687"/>
            <a:ext cx="37366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99215" y="4738687"/>
            <a:ext cx="24498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As 4 Categorias Principais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10250" y="7239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As 4 Categorias Principais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10250" y="7239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BF48F6D6-F777-4E49-8C96-9A571F840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64" y="1181100"/>
            <a:ext cx="11613471" cy="521005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44669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1304925"/>
            <a:ext cx="11125200" cy="847725"/>
          </a:xfrm>
          <a:prstGeom prst="roundRect">
            <a:avLst>
              <a:gd name="adj" fmla="val 112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2400">
              <a:latin typeface="Poppi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0125" y="1380823"/>
            <a:ext cx="10325100" cy="700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 err="1">
                <a:solidFill>
                  <a:srgbClr val="0F172A"/>
                </a:solidFill>
                <a:latin typeface="Poppins"/>
              </a:rPr>
              <a:t>Prática</a:t>
            </a:r>
            <a:r>
              <a:rPr sz="1600" b="1" i="0" u="none" dirty="0">
                <a:solidFill>
                  <a:srgbClr val="0F172A"/>
                </a:solidFill>
                <a:latin typeface="Poppins"/>
              </a:rPr>
              <a:t> 100% Online e </a:t>
            </a:r>
            <a:r>
              <a:rPr sz="1600" b="1" i="0" u="none" dirty="0" err="1">
                <a:solidFill>
                  <a:srgbClr val="0F172A"/>
                </a:solidFill>
                <a:latin typeface="Poppins"/>
              </a:rPr>
              <a:t>Gratuita</a:t>
            </a:r>
            <a:r>
              <a:rPr sz="1600" b="1" i="0" u="none" dirty="0">
                <a:solidFill>
                  <a:srgbClr val="0F172A"/>
                </a:solidFill>
                <a:latin typeface="Poppins"/>
              </a:rPr>
              <a:t>: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Todos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os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laboratórios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práticos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utilizarão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serviços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gerenciados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na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nuvem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,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sem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necessidade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de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instalações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locais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complexas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2328683"/>
            <a:ext cx="11125200" cy="914580"/>
          </a:xfrm>
          <a:prstGeom prst="roundRect">
            <a:avLst>
              <a:gd name="adj" fmla="val 157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2400">
              <a:latin typeface="Poppi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4900" y="2389749"/>
            <a:ext cx="10325100" cy="700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 err="1">
                <a:solidFill>
                  <a:srgbClr val="0F172A"/>
                </a:solidFill>
                <a:latin typeface="Poppins"/>
              </a:rPr>
              <a:t>Aprendizagem</a:t>
            </a:r>
            <a:r>
              <a:rPr sz="1600" b="1" i="0" u="none" dirty="0">
                <a:solidFill>
                  <a:srgbClr val="0F172A"/>
                </a:solidFill>
                <a:latin typeface="Poppins"/>
              </a:rPr>
              <a:t> </a:t>
            </a:r>
            <a:r>
              <a:rPr sz="1600" b="1" i="0" u="none" dirty="0" err="1">
                <a:solidFill>
                  <a:srgbClr val="0F172A"/>
                </a:solidFill>
                <a:latin typeface="Poppins"/>
              </a:rPr>
              <a:t>Baseada</a:t>
            </a:r>
            <a:r>
              <a:rPr sz="1600" b="1" i="0" u="none" dirty="0">
                <a:solidFill>
                  <a:srgbClr val="0F172A"/>
                </a:solidFill>
                <a:latin typeface="Poppins"/>
              </a:rPr>
              <a:t> </a:t>
            </a:r>
            <a:r>
              <a:rPr sz="1600" b="1" i="0" u="none" dirty="0" err="1">
                <a:solidFill>
                  <a:srgbClr val="0F172A"/>
                </a:solidFill>
                <a:latin typeface="Poppins"/>
              </a:rPr>
              <a:t>em</a:t>
            </a:r>
            <a:r>
              <a:rPr sz="1600" b="1" i="0" u="none" dirty="0">
                <a:solidFill>
                  <a:srgbClr val="0F172A"/>
                </a:solidFill>
                <a:latin typeface="Poppins"/>
              </a:rPr>
              <a:t> </a:t>
            </a:r>
            <a:r>
              <a:rPr sz="1600" b="1" i="0" u="none" dirty="0" err="1">
                <a:solidFill>
                  <a:srgbClr val="0F172A"/>
                </a:solidFill>
                <a:latin typeface="Poppins"/>
              </a:rPr>
              <a:t>Projetos</a:t>
            </a:r>
            <a:r>
              <a:rPr sz="1600" b="1" i="0" u="none" dirty="0">
                <a:solidFill>
                  <a:srgbClr val="0F172A"/>
                </a:solidFill>
                <a:latin typeface="Poppins"/>
              </a:rPr>
              <a:t> (ABP):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Metodologia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ativa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com aulas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expositivas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dialogadas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e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resolução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de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desafios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reais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400" y="3397051"/>
            <a:ext cx="11125200" cy="905055"/>
          </a:xfrm>
          <a:prstGeom prst="roundRect">
            <a:avLst>
              <a:gd name="adj" fmla="val 157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2400">
              <a:latin typeface="Poppi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4900" y="3461164"/>
            <a:ext cx="10325100" cy="700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 err="1">
                <a:solidFill>
                  <a:srgbClr val="0F172A"/>
                </a:solidFill>
                <a:latin typeface="Poppins"/>
              </a:rPr>
              <a:t>Conexão</a:t>
            </a:r>
            <a:r>
              <a:rPr sz="1600" b="1" i="0" u="none" dirty="0">
                <a:solidFill>
                  <a:srgbClr val="0F172A"/>
                </a:solidFill>
                <a:latin typeface="Poppins"/>
              </a:rPr>
              <a:t> com IA e IoT: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Exercícios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aplicados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simulando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dados de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visão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computacional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,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telemetria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de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sensores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e redes de dados.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" y="4436268"/>
            <a:ext cx="11125200" cy="847725"/>
          </a:xfrm>
          <a:prstGeom prst="roundRect">
            <a:avLst>
              <a:gd name="adj" fmla="val 112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2400">
              <a:latin typeface="Poppi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04900" y="4500382"/>
            <a:ext cx="10325100" cy="700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u="none" dirty="0" err="1">
                <a:solidFill>
                  <a:srgbClr val="0F172A"/>
                </a:solidFill>
                <a:latin typeface="Poppins"/>
              </a:rPr>
              <a:t>Avaliação</a:t>
            </a:r>
            <a:r>
              <a:rPr sz="1600" b="1" i="0" u="none" dirty="0">
                <a:solidFill>
                  <a:srgbClr val="0F172A"/>
                </a:solidFill>
                <a:latin typeface="Poppins"/>
              </a:rPr>
              <a:t> </a:t>
            </a:r>
            <a:r>
              <a:rPr sz="1600" b="1" i="0" u="none" dirty="0" err="1">
                <a:solidFill>
                  <a:srgbClr val="0F172A"/>
                </a:solidFill>
                <a:latin typeface="Poppins"/>
              </a:rPr>
              <a:t>Contínua</a:t>
            </a:r>
            <a:r>
              <a:rPr sz="1600" b="1" i="0" u="none" dirty="0">
                <a:solidFill>
                  <a:srgbClr val="0F172A"/>
                </a:solidFill>
                <a:latin typeface="Poppins"/>
              </a:rPr>
              <a:t>: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Composta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por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projeto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prático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em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grupo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,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avaliações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individuais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e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construção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de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portfólio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para o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mercado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de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trabalho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5424487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404636"/>
            <a:ext cx="266700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55" y="2523946"/>
            <a:ext cx="260696" cy="23984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3592313"/>
            <a:ext cx="20955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4631531"/>
            <a:ext cx="266700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Metodologia e Avaliação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0250" y="7239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248150"/>
            <a:ext cx="2558653" cy="14888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675" y="2419056"/>
            <a:ext cx="2992934" cy="13718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232" y="4248150"/>
            <a:ext cx="2558653" cy="167808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9649" y="2291787"/>
            <a:ext cx="2558653" cy="149916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3400" y="4000500"/>
            <a:ext cx="111252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9454" y="4410075"/>
            <a:ext cx="2346543" cy="289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1" i="0" u="none" dirty="0">
                <a:solidFill>
                  <a:srgbClr val="2563EB"/>
                </a:solidFill>
                <a:latin typeface="Poppins"/>
              </a:rPr>
              <a:t>22/08 (Aula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4705350"/>
            <a:ext cx="2234803" cy="936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Abertura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,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tipos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de dados,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limitações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do RDBMS, 5Vs e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Teorema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CAP.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4870" y="2485287"/>
            <a:ext cx="2346543" cy="289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1" i="0" u="none" dirty="0" err="1">
                <a:solidFill>
                  <a:srgbClr val="2563EB"/>
                </a:solidFill>
                <a:latin typeface="Poppins"/>
              </a:rPr>
              <a:t>Encontros</a:t>
            </a:r>
            <a:r>
              <a:rPr sz="1400" b="1" i="0" u="none" dirty="0">
                <a:solidFill>
                  <a:srgbClr val="2563EB"/>
                </a:solidFill>
                <a:latin typeface="Poppins"/>
              </a:rPr>
              <a:t> </a:t>
            </a:r>
            <a:r>
              <a:rPr sz="1400" b="1" i="0" u="none" dirty="0" err="1">
                <a:solidFill>
                  <a:srgbClr val="2563EB"/>
                </a:solidFill>
                <a:latin typeface="Poppins"/>
              </a:rPr>
              <a:t>Práticos</a:t>
            </a:r>
            <a:endParaRPr sz="1400" b="1" i="0" u="none" dirty="0">
              <a:solidFill>
                <a:srgbClr val="2563EB"/>
              </a:solidFill>
              <a:latin typeface="Poppi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93407" y="2841277"/>
            <a:ext cx="2662177" cy="936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Modelagem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e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consultas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em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Documentos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 (</a:t>
            </a:r>
            <a:r>
              <a:rPr sz="1400" b="1" i="0" u="none" dirty="0">
                <a:solidFill>
                  <a:srgbClr val="475569"/>
                </a:solidFill>
                <a:latin typeface="Poppins"/>
              </a:rPr>
              <a:t>MongoDB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) e </a:t>
            </a:r>
            <a:r>
              <a:rPr sz="1400" b="0" i="0" u="none" dirty="0" err="1">
                <a:solidFill>
                  <a:srgbClr val="475569"/>
                </a:solidFill>
                <a:latin typeface="Poppins"/>
              </a:rPr>
              <a:t>Chave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-Valor (</a:t>
            </a:r>
            <a:r>
              <a:rPr sz="1400" b="1" i="0" u="none" dirty="0">
                <a:solidFill>
                  <a:srgbClr val="475569"/>
                </a:solidFill>
                <a:latin typeface="Poppins"/>
              </a:rPr>
              <a:t>Redis</a:t>
            </a:r>
            <a:r>
              <a:rPr sz="1400" b="0" i="0" u="none" dirty="0">
                <a:solidFill>
                  <a:srgbClr val="475569"/>
                </a:solidFill>
                <a:latin typeface="Poppins"/>
              </a:rPr>
              <a:t>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287" y="4410075"/>
            <a:ext cx="2346543" cy="289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1" i="0" u="none">
                <a:solidFill>
                  <a:srgbClr val="2563EB"/>
                </a:solidFill>
                <a:latin typeface="Poppins"/>
              </a:rPr>
              <a:t>Reposições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6157" y="4705350"/>
            <a:ext cx="2234803" cy="1069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0" i="0" u="none" dirty="0">
                <a:solidFill>
                  <a:srgbClr val="475569"/>
                </a:solidFill>
                <a:latin typeface="Poppins"/>
              </a:rPr>
              <a:t>Aulas de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reposição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aos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sábados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sz="1600" b="0" i="0" u="none" dirty="0" err="1">
                <a:solidFill>
                  <a:srgbClr val="475569"/>
                </a:solidFill>
                <a:latin typeface="Poppins"/>
              </a:rPr>
              <a:t>planejadas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 (</a:t>
            </a:r>
            <a:r>
              <a:rPr sz="1600" b="1" i="0" u="none" dirty="0">
                <a:solidFill>
                  <a:srgbClr val="475569"/>
                </a:solidFill>
                <a:latin typeface="Poppins"/>
              </a:rPr>
              <a:t>17/10 a 14/11</a:t>
            </a:r>
            <a:r>
              <a:rPr sz="1600" b="0" i="0" u="none" dirty="0">
                <a:solidFill>
                  <a:srgbClr val="475569"/>
                </a:solidFill>
                <a:latin typeface="Poppins"/>
              </a:rPr>
              <a:t>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0453" y="2342856"/>
            <a:ext cx="2346543" cy="289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1" i="0" u="none" dirty="0" err="1">
                <a:solidFill>
                  <a:srgbClr val="2563EB"/>
                </a:solidFill>
                <a:latin typeface="Poppins"/>
              </a:rPr>
              <a:t>Projeto</a:t>
            </a:r>
            <a:r>
              <a:rPr sz="1400" b="1" i="0" u="none" dirty="0">
                <a:solidFill>
                  <a:srgbClr val="2563EB"/>
                </a:solidFill>
                <a:latin typeface="Poppins"/>
              </a:rPr>
              <a:t> Final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9834" y="2721026"/>
            <a:ext cx="2508468" cy="1069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 i="0" u="none" dirty="0" err="1">
                <a:solidFill>
                  <a:srgbClr val="FF0000"/>
                </a:solidFill>
                <a:latin typeface="Poppins"/>
              </a:rPr>
              <a:t>Desenvolvimento</a:t>
            </a:r>
            <a:r>
              <a:rPr sz="1600" b="1" i="0" u="none" dirty="0">
                <a:solidFill>
                  <a:srgbClr val="FF0000"/>
                </a:solidFill>
                <a:latin typeface="Poppins"/>
              </a:rPr>
              <a:t> e </a:t>
            </a:r>
            <a:r>
              <a:rPr sz="1600" b="1" i="0" u="none" dirty="0" err="1">
                <a:solidFill>
                  <a:srgbClr val="FF0000"/>
                </a:solidFill>
                <a:latin typeface="Poppins"/>
              </a:rPr>
              <a:t>entrega</a:t>
            </a:r>
            <a:r>
              <a:rPr sz="1600" b="1" i="0" u="none" dirty="0">
                <a:solidFill>
                  <a:srgbClr val="FF0000"/>
                </a:solidFill>
                <a:latin typeface="Poppins"/>
              </a:rPr>
              <a:t> do </a:t>
            </a:r>
            <a:r>
              <a:rPr sz="1600" b="1" i="0" u="none" dirty="0" err="1">
                <a:solidFill>
                  <a:srgbClr val="FF0000"/>
                </a:solidFill>
                <a:latin typeface="Poppins"/>
              </a:rPr>
              <a:t>projeto</a:t>
            </a:r>
            <a:r>
              <a:rPr sz="1600" b="1" i="0" u="none" dirty="0">
                <a:solidFill>
                  <a:srgbClr val="FF0000"/>
                </a:solidFill>
                <a:latin typeface="Poppins"/>
              </a:rPr>
              <a:t> </a:t>
            </a:r>
            <a:r>
              <a:rPr sz="1600" b="1" i="0" u="none" dirty="0" err="1">
                <a:solidFill>
                  <a:srgbClr val="FF0000"/>
                </a:solidFill>
                <a:latin typeface="Poppins"/>
              </a:rPr>
              <a:t>aplicado</a:t>
            </a:r>
            <a:r>
              <a:rPr sz="1600" b="1" i="0" u="none" dirty="0">
                <a:solidFill>
                  <a:srgbClr val="FF0000"/>
                </a:solidFill>
                <a:latin typeface="Poppins"/>
              </a:rPr>
              <a:t> de Banco </a:t>
            </a:r>
            <a:r>
              <a:rPr sz="1600" b="1" i="0" u="none" dirty="0" err="1">
                <a:solidFill>
                  <a:srgbClr val="FF0000"/>
                </a:solidFill>
                <a:latin typeface="Poppins"/>
              </a:rPr>
              <a:t>Não</a:t>
            </a:r>
            <a:r>
              <a:rPr sz="1600" b="1" i="0" u="none" dirty="0">
                <a:solidFill>
                  <a:srgbClr val="FF0000"/>
                </a:solidFill>
                <a:latin typeface="Poppins"/>
              </a:rPr>
              <a:t> </a:t>
            </a:r>
            <a:r>
              <a:rPr sz="1600" b="1" i="0" u="none" dirty="0" err="1">
                <a:solidFill>
                  <a:srgbClr val="FF0000"/>
                </a:solidFill>
                <a:latin typeface="Poppins"/>
              </a:rPr>
              <a:t>Relacional</a:t>
            </a:r>
            <a:r>
              <a:rPr sz="1600" b="1" i="0" u="none" dirty="0">
                <a:solidFill>
                  <a:srgbClr val="FF0000"/>
                </a:solidFill>
                <a:latin typeface="Poppin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17476" y="39243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2892" y="39243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28309" y="39243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83725" y="39243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Cronograma da Disciplina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10250" y="7239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Cronograma da Disciplina</a:t>
            </a:r>
          </a:p>
        </p:txBody>
      </p:sp>
      <p:sp>
        <p:nvSpPr>
          <p:cNvPr id="22" name="Rounded Rectangle 6">
            <a:extLst>
              <a:ext uri="{FF2B5EF4-FFF2-40B4-BE49-F238E27FC236}">
                <a16:creationId xmlns:a16="http://schemas.microsoft.com/office/drawing/2014/main" id="{DBD9C06D-A42A-4714-94D3-F59218BFCA11}"/>
              </a:ext>
            </a:extLst>
          </p:cNvPr>
          <p:cNvSpPr/>
          <p:nvPr/>
        </p:nvSpPr>
        <p:spPr>
          <a:xfrm>
            <a:off x="429227" y="1487228"/>
            <a:ext cx="11125200" cy="905055"/>
          </a:xfrm>
          <a:prstGeom prst="roundRect">
            <a:avLst>
              <a:gd name="adj" fmla="val 157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3200">
              <a:latin typeface="Poppins"/>
            </a:endParaRPr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DFE4A71B-2183-48FF-952B-80635E5BAAD8}"/>
              </a:ext>
            </a:extLst>
          </p:cNvPr>
          <p:cNvSpPr txBox="1"/>
          <p:nvPr/>
        </p:nvSpPr>
        <p:spPr>
          <a:xfrm>
            <a:off x="1112134" y="1675502"/>
            <a:ext cx="10925537" cy="496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i="0" u="none" dirty="0">
                <a:solidFill>
                  <a:srgbClr val="0F172A"/>
                </a:solidFill>
                <a:latin typeface="Poppins"/>
              </a:rPr>
              <a:t>P1</a:t>
            </a:r>
            <a:r>
              <a:rPr sz="2400" b="1" i="0" u="none" dirty="0">
                <a:solidFill>
                  <a:srgbClr val="0F172A"/>
                </a:solidFill>
                <a:latin typeface="Poppins"/>
              </a:rPr>
              <a:t>:</a:t>
            </a:r>
            <a:r>
              <a:rPr sz="24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lang="pt-BR" sz="2400" dirty="0">
                <a:solidFill>
                  <a:srgbClr val="475569"/>
                </a:solidFill>
                <a:latin typeface="Poppins"/>
              </a:rPr>
              <a:t>(</a:t>
            </a:r>
            <a:r>
              <a:rPr lang="pt-BR" sz="2400" b="1" dirty="0">
                <a:solidFill>
                  <a:srgbClr val="FF0000"/>
                </a:solidFill>
                <a:latin typeface="Poppins"/>
              </a:rPr>
              <a:t>17/10</a:t>
            </a:r>
            <a:r>
              <a:rPr lang="pt-BR" sz="2400" dirty="0">
                <a:solidFill>
                  <a:srgbClr val="475569"/>
                </a:solidFill>
                <a:latin typeface="Poppins"/>
              </a:rPr>
              <a:t>) Prova de Fundamentos e lógica (CAP, Chave-Valor, Documentos)</a:t>
            </a:r>
            <a:r>
              <a:rPr sz="2400" b="0" i="0" u="none" dirty="0">
                <a:solidFill>
                  <a:srgbClr val="475569"/>
                </a:solidFill>
                <a:latin typeface="Poppins"/>
              </a:rPr>
              <a:t>.</a:t>
            </a:r>
          </a:p>
        </p:txBody>
      </p:sp>
      <p:sp>
        <p:nvSpPr>
          <p:cNvPr id="25" name="Rounded Rectangle 6">
            <a:extLst>
              <a:ext uri="{FF2B5EF4-FFF2-40B4-BE49-F238E27FC236}">
                <a16:creationId xmlns:a16="http://schemas.microsoft.com/office/drawing/2014/main" id="{FDEA2E0C-2851-460F-A5F3-0EA59B6129CC}"/>
              </a:ext>
            </a:extLst>
          </p:cNvPr>
          <p:cNvSpPr/>
          <p:nvPr/>
        </p:nvSpPr>
        <p:spPr>
          <a:xfrm>
            <a:off x="429227" y="2607018"/>
            <a:ext cx="11125200" cy="905055"/>
          </a:xfrm>
          <a:prstGeom prst="roundRect">
            <a:avLst>
              <a:gd name="adj" fmla="val 157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2400">
              <a:latin typeface="Poppins"/>
            </a:endParaRPr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1ADD812D-61E6-4C92-BEA4-5C01DF66C5EC}"/>
              </a:ext>
            </a:extLst>
          </p:cNvPr>
          <p:cNvSpPr txBox="1"/>
          <p:nvPr/>
        </p:nvSpPr>
        <p:spPr>
          <a:xfrm>
            <a:off x="1112134" y="2716741"/>
            <a:ext cx="10325100" cy="496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i="0" u="none" dirty="0">
                <a:solidFill>
                  <a:srgbClr val="0F172A"/>
                </a:solidFill>
                <a:latin typeface="Poppins"/>
              </a:rPr>
              <a:t>P2</a:t>
            </a:r>
            <a:r>
              <a:rPr sz="2400" b="1" i="0" u="none" dirty="0">
                <a:solidFill>
                  <a:srgbClr val="0F172A"/>
                </a:solidFill>
                <a:latin typeface="Poppins"/>
              </a:rPr>
              <a:t>:</a:t>
            </a:r>
            <a:r>
              <a:rPr sz="2400" b="0" i="0" u="none" dirty="0">
                <a:solidFill>
                  <a:srgbClr val="475569"/>
                </a:solidFill>
                <a:latin typeface="Poppins"/>
              </a:rPr>
              <a:t> </a:t>
            </a:r>
            <a:r>
              <a:rPr lang="pt-BR" sz="2400" dirty="0">
                <a:solidFill>
                  <a:srgbClr val="475569"/>
                </a:solidFill>
                <a:latin typeface="Poppins"/>
              </a:rPr>
              <a:t>(</a:t>
            </a:r>
            <a:r>
              <a:rPr lang="pt-BR" sz="2400" b="1" dirty="0">
                <a:solidFill>
                  <a:srgbClr val="FF0000"/>
                </a:solidFill>
                <a:latin typeface="Poppins"/>
              </a:rPr>
              <a:t>14/11</a:t>
            </a:r>
            <a:r>
              <a:rPr lang="pt-BR" sz="2400" dirty="0">
                <a:solidFill>
                  <a:srgbClr val="475569"/>
                </a:solidFill>
                <a:latin typeface="Poppins"/>
              </a:rPr>
              <a:t>): Entrega e Apresentação do Projeto Técnico.</a:t>
            </a:r>
            <a:endParaRPr sz="2400" b="0" i="0" u="none" dirty="0">
              <a:solidFill>
                <a:srgbClr val="475569"/>
              </a:solidFill>
              <a:latin typeface="Poppins"/>
            </a:endParaRPr>
          </a:p>
        </p:txBody>
      </p:sp>
      <p:sp>
        <p:nvSpPr>
          <p:cNvPr id="28" name="Rounded Rectangle 6">
            <a:extLst>
              <a:ext uri="{FF2B5EF4-FFF2-40B4-BE49-F238E27FC236}">
                <a16:creationId xmlns:a16="http://schemas.microsoft.com/office/drawing/2014/main" id="{4656125F-307F-44EC-91E0-7C00C146FC9B}"/>
              </a:ext>
            </a:extLst>
          </p:cNvPr>
          <p:cNvSpPr/>
          <p:nvPr/>
        </p:nvSpPr>
        <p:spPr>
          <a:xfrm>
            <a:off x="429227" y="3726808"/>
            <a:ext cx="11125200" cy="2303602"/>
          </a:xfrm>
          <a:prstGeom prst="roundRect">
            <a:avLst>
              <a:gd name="adj" fmla="val 157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2400">
              <a:latin typeface="Poppins"/>
            </a:endParaRPr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C30B2E87-80B4-416D-86AB-64AAA2731951}"/>
              </a:ext>
            </a:extLst>
          </p:cNvPr>
          <p:cNvSpPr txBox="1"/>
          <p:nvPr/>
        </p:nvSpPr>
        <p:spPr>
          <a:xfrm>
            <a:off x="591996" y="4471080"/>
            <a:ext cx="10799661" cy="1050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>
                <a:solidFill>
                  <a:srgbClr val="0F172A"/>
                </a:solidFill>
                <a:latin typeface="Poppins"/>
              </a:rPr>
              <a:t>Sábados </a:t>
            </a:r>
            <a:r>
              <a:rPr lang="pt-BR" sz="2400" b="1" dirty="0">
                <a:solidFill>
                  <a:srgbClr val="FF0000"/>
                </a:solidFill>
                <a:latin typeface="Poppins"/>
              </a:rPr>
              <a:t>12/09, 19/09, 26/09, 03/10 e 10/10/2026 não haverá aula normal</a:t>
            </a:r>
            <a:r>
              <a:rPr lang="pt-BR" sz="2400" dirty="0">
                <a:solidFill>
                  <a:srgbClr val="0F172A"/>
                </a:solidFill>
                <a:latin typeface="Poppins"/>
              </a:rPr>
              <a:t>, sendo as aulas repostas em </a:t>
            </a:r>
            <a:r>
              <a:rPr lang="pt-BR" sz="2400" b="1" dirty="0">
                <a:solidFill>
                  <a:srgbClr val="0F172A"/>
                </a:solidFill>
                <a:latin typeface="Poppins"/>
              </a:rPr>
              <a:t>17/10, 24/10, 31/10, 07/11 e 14/11/2026, respectivamente.</a:t>
            </a:r>
            <a:endParaRPr sz="2400" b="1" i="0" u="none" dirty="0">
              <a:solidFill>
                <a:srgbClr val="475569"/>
              </a:solidFill>
              <a:latin typeface="Poppins"/>
            </a:endParaRPr>
          </a:p>
        </p:txBody>
      </p:sp>
      <p:sp>
        <p:nvSpPr>
          <p:cNvPr id="30" name="TextBox 7">
            <a:extLst>
              <a:ext uri="{FF2B5EF4-FFF2-40B4-BE49-F238E27FC236}">
                <a16:creationId xmlns:a16="http://schemas.microsoft.com/office/drawing/2014/main" id="{03A394D0-06EA-4890-9170-2C052EA2D94D}"/>
              </a:ext>
            </a:extLst>
          </p:cNvPr>
          <p:cNvSpPr txBox="1"/>
          <p:nvPr/>
        </p:nvSpPr>
        <p:spPr>
          <a:xfrm>
            <a:off x="591996" y="3660396"/>
            <a:ext cx="10799661" cy="6623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200" b="1" dirty="0">
                <a:solidFill>
                  <a:srgbClr val="FF0000"/>
                </a:solidFill>
                <a:latin typeface="Poppins"/>
              </a:rPr>
              <a:t>IMPORTANTE</a:t>
            </a:r>
            <a:endParaRPr sz="3200" b="1" i="0" u="none" dirty="0">
              <a:solidFill>
                <a:srgbClr val="FF0000"/>
              </a:solidFill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173212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Cronograma da Disciplina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76D3EE3-DDC6-4839-94F9-5AF55C5E5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24" y="1548207"/>
            <a:ext cx="11003352" cy="392661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88984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Plataformas Cloud Gratuitas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0" y="7239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6277ED92-214E-42B4-B2F2-D486C6F35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98" y="1638300"/>
            <a:ext cx="11570004" cy="42011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Plataformas Cloud Gratuitas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0" y="7239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E6B1631-8E97-448A-8CF9-A4AF467C9005}"/>
              </a:ext>
            </a:extLst>
          </p:cNvPr>
          <p:cNvSpPr txBox="1"/>
          <p:nvPr/>
        </p:nvSpPr>
        <p:spPr>
          <a:xfrm>
            <a:off x="358308" y="914400"/>
            <a:ext cx="11475384" cy="58424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dirty="0">
                <a:latin typeface="Poppins"/>
              </a:rPr>
              <a:t>Links diretos para criação antecipada de contas gratuitas (nenhum exige cartão de crédito):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 err="1">
                <a:latin typeface="Poppins"/>
              </a:rPr>
              <a:t>MongoDB</a:t>
            </a:r>
            <a:r>
              <a:rPr lang="pt-BR" sz="2800" b="1" dirty="0">
                <a:latin typeface="Poppins"/>
              </a:rPr>
              <a:t> Atlas</a:t>
            </a:r>
            <a:r>
              <a:rPr lang="pt-BR" sz="2800" dirty="0">
                <a:latin typeface="Poppins"/>
              </a:rPr>
              <a:t> (cluster M0, 512 MB, gratuito e permanente): </a:t>
            </a:r>
            <a:r>
              <a:rPr lang="pt-BR" sz="2800" dirty="0">
                <a:latin typeface="Poppins"/>
                <a:hlinkClick r:id="rId3"/>
              </a:rPr>
              <a:t>https://www.mongodb.com/cloud/atlas/register</a:t>
            </a:r>
            <a:endParaRPr lang="pt-BR" sz="2800" dirty="0">
              <a:latin typeface="Poppin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>
                <a:latin typeface="Poppins"/>
              </a:rPr>
              <a:t>Redis Cloud</a:t>
            </a:r>
            <a:r>
              <a:rPr lang="pt-BR" sz="2800" dirty="0">
                <a:latin typeface="Poppins"/>
              </a:rPr>
              <a:t> (30 MB, plano gratuito): </a:t>
            </a:r>
            <a:r>
              <a:rPr lang="pt-BR" sz="2800" dirty="0">
                <a:latin typeface="Poppins"/>
                <a:hlinkClick r:id="rId4"/>
              </a:rPr>
              <a:t>https://redis.io/try-free/</a:t>
            </a:r>
            <a:r>
              <a:rPr lang="pt-BR" sz="2800" dirty="0">
                <a:latin typeface="Poppins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>
                <a:latin typeface="Poppins"/>
              </a:rPr>
              <a:t>Astra DB </a:t>
            </a:r>
            <a:r>
              <a:rPr lang="pt-BR" sz="2800" dirty="0">
                <a:latin typeface="Poppins"/>
              </a:rPr>
              <a:t>— Cassandra (plano gratuito): </a:t>
            </a:r>
            <a:r>
              <a:rPr lang="pt-BR" sz="2800" dirty="0">
                <a:latin typeface="Poppins"/>
                <a:hlinkClick r:id="rId5"/>
              </a:rPr>
              <a:t>https://astra.datastax.com/signupNeo4j</a:t>
            </a:r>
            <a:endParaRPr lang="pt-BR" sz="2800" dirty="0">
              <a:latin typeface="Poppins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 err="1">
                <a:latin typeface="Poppins"/>
              </a:rPr>
              <a:t>AuraDB</a:t>
            </a:r>
            <a:r>
              <a:rPr lang="pt-BR" sz="2800" b="1" dirty="0">
                <a:latin typeface="Poppins"/>
              </a:rPr>
              <a:t> </a:t>
            </a:r>
            <a:r>
              <a:rPr lang="pt-BR" sz="2800" b="1" dirty="0" err="1">
                <a:latin typeface="Poppins"/>
              </a:rPr>
              <a:t>Free</a:t>
            </a:r>
            <a:r>
              <a:rPr lang="pt-BR" sz="2800" b="1" dirty="0">
                <a:latin typeface="Poppins"/>
              </a:rPr>
              <a:t> </a:t>
            </a:r>
            <a:r>
              <a:rPr lang="pt-BR" sz="2800" dirty="0">
                <a:latin typeface="Poppins"/>
              </a:rPr>
              <a:t>(banco de grafos, gratuito e permanente): </a:t>
            </a:r>
            <a:r>
              <a:rPr lang="pt-BR" sz="2800" dirty="0">
                <a:latin typeface="Poppins"/>
                <a:hlinkClick r:id="rId6"/>
              </a:rPr>
              <a:t>https://neo4j.com/cloud/platform/aura-graph-database/</a:t>
            </a:r>
            <a:endParaRPr lang="pt-BR" sz="2800" dirty="0"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880156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3400" y="457200"/>
            <a:ext cx="11658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400" b="1" i="0" u="none" dirty="0">
                <a:solidFill>
                  <a:srgbClr val="0F172A"/>
                </a:solidFill>
                <a:latin typeface="Poppins"/>
              </a:rPr>
              <a:t>Referências</a:t>
            </a:r>
            <a:endParaRPr sz="24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AD54318-CC07-4873-BA65-089C9A8CA568}"/>
              </a:ext>
            </a:extLst>
          </p:cNvPr>
          <p:cNvSpPr txBox="1"/>
          <p:nvPr/>
        </p:nvSpPr>
        <p:spPr>
          <a:xfrm>
            <a:off x="381966" y="1764814"/>
            <a:ext cx="11475384" cy="41996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b="1" dirty="0">
                <a:latin typeface="Poppins"/>
              </a:rPr>
              <a:t>Básica</a:t>
            </a:r>
            <a:r>
              <a:rPr lang="pt-BR" sz="2000" dirty="0">
                <a:latin typeface="Poppins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Poppins"/>
              </a:rPr>
              <a:t>BOAGLIO, F. </a:t>
            </a:r>
            <a:r>
              <a:rPr lang="pt-BR" sz="2000" dirty="0" err="1">
                <a:latin typeface="Poppins"/>
              </a:rPr>
              <a:t>MongoDB</a:t>
            </a:r>
            <a:r>
              <a:rPr lang="pt-BR" sz="2000" dirty="0">
                <a:latin typeface="Poppins"/>
              </a:rPr>
              <a:t>: Construa novas aplicações com novas tecnologias. Casa do Código, 2015.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Poppins"/>
              </a:rPr>
              <a:t>ELMASRI, R.; NAVATHE, S. B. Sistemas de Banco de Dados: Fundamentos e Aplicações. 7ed. Pearson, 2019.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Poppins"/>
              </a:rPr>
              <a:t>SADALAGE, P.; FOWLER, M. </a:t>
            </a:r>
            <a:r>
              <a:rPr lang="pt-BR" sz="2000" dirty="0" err="1">
                <a:latin typeface="Poppins"/>
              </a:rPr>
              <a:t>NoSQL</a:t>
            </a:r>
            <a:r>
              <a:rPr lang="pt-BR" sz="2000" dirty="0">
                <a:latin typeface="Poppins"/>
              </a:rPr>
              <a:t> Essencial. </a:t>
            </a:r>
            <a:r>
              <a:rPr lang="pt-BR" sz="2000" dirty="0" err="1">
                <a:latin typeface="Poppins"/>
              </a:rPr>
              <a:t>Novatec</a:t>
            </a:r>
            <a:r>
              <a:rPr lang="pt-BR" sz="2000" dirty="0">
                <a:latin typeface="Poppins"/>
              </a:rPr>
              <a:t>, 2013.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Poppins"/>
              </a:rPr>
              <a:t>SINGH, H. Data </a:t>
            </a:r>
            <a:r>
              <a:rPr lang="pt-BR" sz="2000" dirty="0" err="1">
                <a:latin typeface="Poppins"/>
              </a:rPr>
              <a:t>Warehouse</a:t>
            </a:r>
            <a:r>
              <a:rPr lang="pt-BR" sz="2000" dirty="0">
                <a:latin typeface="Poppins"/>
              </a:rPr>
              <a:t>: conceitos, tecnologias, implementação e gerenciamento. Makron Books, 2001.</a:t>
            </a:r>
          </a:p>
          <a:p>
            <a:pPr>
              <a:lnSpc>
                <a:spcPct val="150000"/>
              </a:lnSpc>
            </a:pPr>
            <a:r>
              <a:rPr lang="pt-BR" sz="2000" b="1" dirty="0">
                <a:latin typeface="Poppins"/>
              </a:rPr>
              <a:t>Complementar</a:t>
            </a:r>
            <a:r>
              <a:rPr lang="pt-BR" sz="2000" dirty="0">
                <a:latin typeface="Poppins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Poppins"/>
              </a:rPr>
              <a:t>FAROULT, S. </a:t>
            </a:r>
            <a:r>
              <a:rPr lang="pt-BR" sz="2000" dirty="0" err="1">
                <a:latin typeface="Poppins"/>
              </a:rPr>
              <a:t>Refatorando</a:t>
            </a:r>
            <a:r>
              <a:rPr lang="pt-BR" sz="2000" dirty="0">
                <a:latin typeface="Poppins"/>
              </a:rPr>
              <a:t> Aplicativos SQL. Alta Books, 2009.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Poppins"/>
              </a:rPr>
              <a:t>PANIZ, D. </a:t>
            </a:r>
            <a:r>
              <a:rPr lang="pt-BR" sz="2000" dirty="0" err="1">
                <a:latin typeface="Poppins"/>
              </a:rPr>
              <a:t>NoSQL</a:t>
            </a:r>
            <a:r>
              <a:rPr lang="pt-BR" sz="2000" dirty="0">
                <a:latin typeface="Poppins"/>
              </a:rPr>
              <a:t>: Como armazenar os dados de uma aplicação moderna. Casa do Código, 2016.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Poppins"/>
              </a:rPr>
              <a:t>SOUZA, M. Desvendando o </a:t>
            </a:r>
            <a:r>
              <a:rPr lang="pt-BR" sz="2000" dirty="0" err="1">
                <a:latin typeface="Poppins"/>
              </a:rPr>
              <a:t>MongoDB</a:t>
            </a:r>
            <a:r>
              <a:rPr lang="pt-BR" sz="2000" dirty="0">
                <a:latin typeface="Poppins"/>
              </a:rPr>
              <a:t>. Ciência Moderna, 2015.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6700" y="457200"/>
            <a:ext cx="11658600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Poppins"/>
              </a:rPr>
              <a:t>Perguntas e Dúvidas?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1413" y="1514475"/>
            <a:ext cx="11273741" cy="1225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800" b="0" i="0" u="none" dirty="0" err="1">
                <a:solidFill>
                  <a:schemeClr val="bg1"/>
                </a:solidFill>
                <a:latin typeface="Poppins"/>
              </a:rPr>
              <a:t>Acesse</a:t>
            </a:r>
            <a:r>
              <a:rPr sz="2800" b="0" i="0" u="none" dirty="0">
                <a:solidFill>
                  <a:schemeClr val="bg1"/>
                </a:solidFill>
                <a:latin typeface="Poppins"/>
              </a:rPr>
              <a:t> o </a:t>
            </a:r>
            <a:r>
              <a:rPr sz="2800" b="0" i="0" u="none" dirty="0" err="1">
                <a:solidFill>
                  <a:schemeClr val="bg1"/>
                </a:solidFill>
                <a:latin typeface="Poppins"/>
              </a:rPr>
              <a:t>ambiente</a:t>
            </a:r>
            <a:r>
              <a:rPr sz="2800" b="0" i="0" u="none" dirty="0">
                <a:solidFill>
                  <a:schemeClr val="bg1"/>
                </a:solidFill>
                <a:latin typeface="Poppins"/>
              </a:rPr>
              <a:t> virtual e prepare </a:t>
            </a:r>
            <a:r>
              <a:rPr sz="2800" b="0" i="0" u="none" dirty="0" err="1">
                <a:solidFill>
                  <a:schemeClr val="bg1"/>
                </a:solidFill>
                <a:latin typeface="Poppins"/>
              </a:rPr>
              <a:t>suas</a:t>
            </a:r>
            <a:r>
              <a:rPr sz="2800" b="0" i="0" u="none" dirty="0">
                <a:solidFill>
                  <a:schemeClr val="bg1"/>
                </a:solidFill>
                <a:latin typeface="Poppins"/>
              </a:rPr>
              <a:t> </a:t>
            </a:r>
            <a:r>
              <a:rPr sz="2800" b="0" i="0" u="none" dirty="0" err="1">
                <a:solidFill>
                  <a:schemeClr val="bg1"/>
                </a:solidFill>
                <a:latin typeface="Poppins"/>
              </a:rPr>
              <a:t>contas</a:t>
            </a:r>
            <a:r>
              <a:rPr sz="2800" b="0" i="0" u="none" dirty="0">
                <a:solidFill>
                  <a:schemeClr val="bg1"/>
                </a:solidFill>
                <a:latin typeface="Poppins"/>
              </a:rPr>
              <a:t> </a:t>
            </a:r>
            <a:r>
              <a:rPr sz="2800" b="0" i="0" u="none" dirty="0" err="1">
                <a:solidFill>
                  <a:schemeClr val="bg1"/>
                </a:solidFill>
                <a:latin typeface="Poppins"/>
              </a:rPr>
              <a:t>gratuitas</a:t>
            </a:r>
            <a:r>
              <a:rPr sz="2800" b="0" i="0" u="none" dirty="0">
                <a:solidFill>
                  <a:schemeClr val="bg1"/>
                </a:solidFill>
                <a:latin typeface="Poppins"/>
              </a:rPr>
              <a:t> </a:t>
            </a:r>
            <a:r>
              <a:rPr sz="2800" b="0" i="0" u="none" dirty="0" err="1">
                <a:solidFill>
                  <a:schemeClr val="bg1"/>
                </a:solidFill>
                <a:latin typeface="Poppins"/>
              </a:rPr>
              <a:t>nas</a:t>
            </a:r>
            <a:r>
              <a:rPr sz="2800" b="0" i="0" u="none" dirty="0">
                <a:solidFill>
                  <a:schemeClr val="bg1"/>
                </a:solidFill>
                <a:latin typeface="Poppins"/>
              </a:rPr>
              <a:t> </a:t>
            </a:r>
            <a:r>
              <a:rPr sz="2800" b="0" i="0" u="none" dirty="0" err="1">
                <a:solidFill>
                  <a:schemeClr val="bg1"/>
                </a:solidFill>
                <a:latin typeface="Poppins"/>
              </a:rPr>
              <a:t>plataformas</a:t>
            </a:r>
            <a:r>
              <a:rPr sz="2800" b="0" i="0" u="none" dirty="0">
                <a:solidFill>
                  <a:schemeClr val="bg1"/>
                </a:solidFill>
                <a:latin typeface="Poppins"/>
              </a:rPr>
              <a:t> online para </a:t>
            </a:r>
            <a:r>
              <a:rPr sz="2800" b="0" i="0" u="none" dirty="0" err="1">
                <a:solidFill>
                  <a:schemeClr val="bg1"/>
                </a:solidFill>
                <a:latin typeface="Poppins"/>
              </a:rPr>
              <a:t>nossos</a:t>
            </a:r>
            <a:r>
              <a:rPr sz="2800" b="0" i="0" u="none" dirty="0">
                <a:solidFill>
                  <a:schemeClr val="bg1"/>
                </a:solidFill>
                <a:latin typeface="Poppins"/>
              </a:rPr>
              <a:t> </a:t>
            </a:r>
            <a:r>
              <a:rPr sz="2800" b="0" i="0" u="none" dirty="0" err="1">
                <a:solidFill>
                  <a:schemeClr val="bg1"/>
                </a:solidFill>
                <a:latin typeface="Poppins"/>
              </a:rPr>
              <a:t>próximos</a:t>
            </a:r>
            <a:r>
              <a:rPr sz="2800" b="0" i="0" u="none" dirty="0">
                <a:solidFill>
                  <a:schemeClr val="bg1"/>
                </a:solidFill>
                <a:latin typeface="Poppins"/>
              </a:rPr>
              <a:t> </a:t>
            </a:r>
            <a:r>
              <a:rPr sz="2800" b="0" i="0" u="none" dirty="0" err="1">
                <a:solidFill>
                  <a:schemeClr val="bg1"/>
                </a:solidFill>
                <a:latin typeface="Poppins"/>
              </a:rPr>
              <a:t>laboratórios</a:t>
            </a:r>
            <a:r>
              <a:rPr sz="2800" b="0" i="0" u="none" dirty="0">
                <a:solidFill>
                  <a:schemeClr val="bg1"/>
                </a:solidFill>
                <a:latin typeface="Poppins"/>
              </a:rPr>
              <a:t> </a:t>
            </a:r>
            <a:r>
              <a:rPr sz="2800" b="0" i="0" u="none" dirty="0" err="1">
                <a:solidFill>
                  <a:schemeClr val="bg1"/>
                </a:solidFill>
                <a:latin typeface="Poppins"/>
              </a:rPr>
              <a:t>práticos</a:t>
            </a:r>
            <a:r>
              <a:rPr sz="2800" b="0" i="0" u="none" dirty="0">
                <a:solidFill>
                  <a:schemeClr val="bg1"/>
                </a:solidFill>
                <a:latin typeface="Poppins"/>
              </a:rPr>
              <a:t>!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202" y="3490551"/>
            <a:ext cx="478255" cy="478492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A924B98B-FE0B-4D17-AB0C-0BB49A9DB7CC}"/>
              </a:ext>
            </a:extLst>
          </p:cNvPr>
          <p:cNvSpPr txBox="1"/>
          <p:nvPr/>
        </p:nvSpPr>
        <p:spPr>
          <a:xfrm>
            <a:off x="4059020" y="3332580"/>
            <a:ext cx="4678101" cy="579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800" b="0" i="0" u="none" dirty="0">
                <a:solidFill>
                  <a:schemeClr val="bg1"/>
                </a:solidFill>
                <a:latin typeface="Poppins"/>
              </a:rPr>
              <a:t>anderson.vanin@cps.sp.gov.br</a:t>
            </a:r>
            <a:endParaRPr sz="2800" b="0" i="0" u="none" dirty="0">
              <a:solidFill>
                <a:schemeClr val="bg1"/>
              </a:solidFill>
              <a:latin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1044</Words>
  <Application>Microsoft Office PowerPoint</Application>
  <PresentationFormat>Widescreen</PresentationFormat>
  <Paragraphs>106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8" baseType="lpstr">
      <vt:lpstr>Arial</vt:lpstr>
      <vt:lpstr>Calibri</vt:lpstr>
      <vt:lpstr>Inter SemiBold</vt:lpstr>
      <vt:lpstr>Poppins</vt:lpstr>
      <vt:lpstr>Poppins ExtraBold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Anderson</dc:creator>
  <cp:keywords/>
  <dc:description>generated using python-pptx</dc:description>
  <cp:lastModifiedBy>ANDERSON SILVA VANIN</cp:lastModifiedBy>
  <cp:revision>14</cp:revision>
  <dcterms:created xsi:type="dcterms:W3CDTF">2013-01-27T09:14:16Z</dcterms:created>
  <dcterms:modified xsi:type="dcterms:W3CDTF">2026-08-18T15:49:49Z</dcterms:modified>
  <cp:category/>
</cp:coreProperties>
</file>